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8446F4D-119C-9DCE-3113-AF55BFFEE944}">
          <p14:sldIdLst>
            <p14:sldId id="256"/>
            <p14:sldId id="257"/>
          </p14:sldIdLst>
        </p14:section>
        <p14:section name="Problem và research gap" id="{B3B67BA9-F705-7CD4-3A9B-D93C71BE96DA}">
          <p14:sldIdLst>
            <p14:sldId id="258"/>
            <p14:sldId id="259"/>
            <p14:sldId id="260"/>
          </p14:sldIdLst>
        </p14:section>
        <p14:section name="Solution" id="{57BE963D-1E90-6C3A-6669-4E1C4F378CBF}">
          <p14:sldIdLst>
            <p14:sldId id="261"/>
            <p14:sldId id="262"/>
            <p14:sldId id="263"/>
            <p14:sldId id="264"/>
            <p14:sldId id="265"/>
            <p14:sldId id="266"/>
            <p14:sldId id="267"/>
            <p14:sldId id="268"/>
          </p14:sldIdLst>
        </p14:section>
        <p14:section name="Đánh giá và giới hạn" id="{84B92C93-9F16-4618-F76C-92CB634519DA}">
          <p14:sldIdLst>
            <p14:sldId id="269"/>
            <p14:sldId id="270"/>
            <p14:sldId id="271"/>
          </p14:sldIdLst>
        </p14:section>
        <p14:section name="Kết luận" id="{6FA9B64E-0279-E2B3-DD44-68BC301BEFA8}">
          <p14:sldIdLst>
            <p14:sldId id="272"/>
          </p14:sldIdLst>
        </p14:section>
        <p14:section name="Phụ lục" id="{EF377AAF-F601-6E62-78C0-D4FDE474FDFF}">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stacked"/>
        <c:varyColors val="0"/>
        <c:ser>
          <c:idx val="0"/>
          <c:order val="0"/>
          <c:tx>
            <c:strRef>
              <c:f>Sheet1!$B$1</c:f>
              <c:strCache>
                <c:ptCount val="1"/>
                <c:pt idx="0">
                  <c:v>Đã công bố: WR (mức thấp nhất)</c:v>
                </c:pt>
              </c:strCache>
            </c:strRef>
          </c:tx>
          <c:spPr>
            <a:solidFill>
              <a:srgbClr val="5B607A"/>
            </a:solidFill>
            <a:effectLst/>
          </c:spPr>
          <c:invertIfNegative val="0"/>
          <c:cat>
            <c:strRef>
              <c:f>Sheet1!$A$2:$A$8</c:f>
              <c:strCache>
                <c:ptCount val="7"/>
                <c:pt idx="0">
                  <c:v>Của ta · G+s3, search (88.8)</c:v>
                </c:pt>
                <c:pt idx="1">
                  <c:v>Của ta · S3-11, CNN chưng cất (63.8)</c:v>
                </c:pt>
                <c:pt idx="2">
                  <c:v>Của ta · G, RL thuần (36.3)</c:v>
                </c:pt>
                <c:pt idx="3">
                  <c:v>Weil 2023 · MCTS + model học (61–78)</c:v>
                </c:pt>
                <c:pt idx="4">
                  <c:v>Perez-Liebana 2019 · MCTS (46.5)</c:v>
                </c:pt>
                <c:pt idx="5">
                  <c:v>Gao 2019 · PPO + lọc hành động (40–43)</c:v>
                </c:pt>
                <c:pt idx="6">
                  <c:v>Perez-Liebana 2019 · RHEA (33.0)</c:v>
                </c:pt>
              </c:strCache>
            </c:strRef>
          </c:cat>
          <c:val>
            <c:numRef>
              <c:f>Sheet1!$B$2:$B$8</c:f>
              <c:numCache>
                <c:formatCode>General</c:formatCode>
                <c:ptCount val="7"/>
                <c:pt idx="0">
                  <c:v>0</c:v>
                </c:pt>
                <c:pt idx="1">
                  <c:v>0</c:v>
                </c:pt>
                <c:pt idx="2">
                  <c:v>0</c:v>
                </c:pt>
                <c:pt idx="3">
                  <c:v>61</c:v>
                </c:pt>
                <c:pt idx="4">
                  <c:v>46.5</c:v>
                </c:pt>
                <c:pt idx="5">
                  <c:v>40</c:v>
                </c:pt>
                <c:pt idx="6">
                  <c:v>33</c:v>
                </c:pt>
              </c:numCache>
            </c:numRef>
          </c:val>
          <c:extLst>
            <c:ext xmlns:c16="http://schemas.microsoft.com/office/drawing/2014/chart" uri="{C3380CC4-5D6E-409C-BE32-E72D297353CC}">
              <c16:uniqueId val="{00000000-6E37-4051-9665-29CF21B26DD1}"/>
            </c:ext>
          </c:extLst>
        </c:ser>
        <c:ser>
          <c:idx val="1"/>
          <c:order val="1"/>
          <c:tx>
            <c:strRef>
              <c:f>Sheet1!$C$1</c:f>
              <c:strCache>
                <c:ptCount val="1"/>
                <c:pt idx="0">
                  <c:v>Đã công bố: dải tới mức cao nhất</c:v>
                </c:pt>
              </c:strCache>
            </c:strRef>
          </c:tx>
          <c:spPr>
            <a:solidFill>
              <a:srgbClr val="B8BCD0"/>
            </a:solidFill>
            <a:effectLst/>
          </c:spPr>
          <c:invertIfNegative val="0"/>
          <c:cat>
            <c:strRef>
              <c:f>Sheet1!$A$2:$A$8</c:f>
              <c:strCache>
                <c:ptCount val="7"/>
                <c:pt idx="0">
                  <c:v>Của ta · G+s3, search (88.8)</c:v>
                </c:pt>
                <c:pt idx="1">
                  <c:v>Của ta · S3-11, CNN chưng cất (63.8)</c:v>
                </c:pt>
                <c:pt idx="2">
                  <c:v>Của ta · G, RL thuần (36.3)</c:v>
                </c:pt>
                <c:pt idx="3">
                  <c:v>Weil 2023 · MCTS + model học (61–78)</c:v>
                </c:pt>
                <c:pt idx="4">
                  <c:v>Perez-Liebana 2019 · MCTS (46.5)</c:v>
                </c:pt>
                <c:pt idx="5">
                  <c:v>Gao 2019 · PPO + lọc hành động (40–43)</c:v>
                </c:pt>
                <c:pt idx="6">
                  <c:v>Perez-Liebana 2019 · RHEA (33.0)</c:v>
                </c:pt>
              </c:strCache>
            </c:strRef>
          </c:cat>
          <c:val>
            <c:numRef>
              <c:f>Sheet1!$C$2:$C$8</c:f>
              <c:numCache>
                <c:formatCode>General</c:formatCode>
                <c:ptCount val="7"/>
                <c:pt idx="0">
                  <c:v>0</c:v>
                </c:pt>
                <c:pt idx="1">
                  <c:v>0</c:v>
                </c:pt>
                <c:pt idx="2">
                  <c:v>0</c:v>
                </c:pt>
                <c:pt idx="3">
                  <c:v>17</c:v>
                </c:pt>
                <c:pt idx="4">
                  <c:v>0</c:v>
                </c:pt>
                <c:pt idx="5">
                  <c:v>3</c:v>
                </c:pt>
                <c:pt idx="6">
                  <c:v>0</c:v>
                </c:pt>
              </c:numCache>
            </c:numRef>
          </c:val>
          <c:extLst>
            <c:ext xmlns:c16="http://schemas.microsoft.com/office/drawing/2014/chart" uri="{C3380CC4-5D6E-409C-BE32-E72D297353CC}">
              <c16:uniqueId val="{00000001-6E37-4051-9665-29CF21B26DD1}"/>
            </c:ext>
          </c:extLst>
        </c:ser>
        <c:ser>
          <c:idx val="2"/>
          <c:order val="2"/>
          <c:tx>
            <c:strRef>
              <c:f>Sheet1!$D$1</c:f>
              <c:strCache>
                <c:ptCount val="1"/>
                <c:pt idx="0">
                  <c:v>Của ta: ActiveWR</c:v>
                </c:pt>
              </c:strCache>
            </c:strRef>
          </c:tx>
          <c:spPr>
            <a:solidFill>
              <a:srgbClr val="3D2F9B"/>
            </a:solidFill>
            <a:effectLst/>
          </c:spPr>
          <c:invertIfNegative val="0"/>
          <c:cat>
            <c:strRef>
              <c:f>Sheet1!$A$2:$A$8</c:f>
              <c:strCache>
                <c:ptCount val="7"/>
                <c:pt idx="0">
                  <c:v>Của ta · G+s3, search (88.8)</c:v>
                </c:pt>
                <c:pt idx="1">
                  <c:v>Của ta · S3-11, CNN chưng cất (63.8)</c:v>
                </c:pt>
                <c:pt idx="2">
                  <c:v>Của ta · G, RL thuần (36.3)</c:v>
                </c:pt>
                <c:pt idx="3">
                  <c:v>Weil 2023 · MCTS + model học (61–78)</c:v>
                </c:pt>
                <c:pt idx="4">
                  <c:v>Perez-Liebana 2019 · MCTS (46.5)</c:v>
                </c:pt>
                <c:pt idx="5">
                  <c:v>Gao 2019 · PPO + lọc hành động (40–43)</c:v>
                </c:pt>
                <c:pt idx="6">
                  <c:v>Perez-Liebana 2019 · RHEA (33.0)</c:v>
                </c:pt>
              </c:strCache>
            </c:strRef>
          </c:cat>
          <c:val>
            <c:numRef>
              <c:f>Sheet1!$D$2:$D$8</c:f>
              <c:numCache>
                <c:formatCode>General</c:formatCode>
                <c:ptCount val="7"/>
                <c:pt idx="0">
                  <c:v>86.3</c:v>
                </c:pt>
                <c:pt idx="1">
                  <c:v>59.4</c:v>
                </c:pt>
                <c:pt idx="2">
                  <c:v>23.1</c:v>
                </c:pt>
                <c:pt idx="3">
                  <c:v>0</c:v>
                </c:pt>
                <c:pt idx="4">
                  <c:v>0</c:v>
                </c:pt>
                <c:pt idx="5">
                  <c:v>0</c:v>
                </c:pt>
                <c:pt idx="6">
                  <c:v>0</c:v>
                </c:pt>
              </c:numCache>
            </c:numRef>
          </c:val>
          <c:extLst>
            <c:ext xmlns:c16="http://schemas.microsoft.com/office/drawing/2014/chart" uri="{C3380CC4-5D6E-409C-BE32-E72D297353CC}">
              <c16:uniqueId val="{00000002-6E37-4051-9665-29CF21B26DD1}"/>
            </c:ext>
          </c:extLst>
        </c:ser>
        <c:ser>
          <c:idx val="3"/>
          <c:order val="3"/>
          <c:tx>
            <c:strRef>
              <c:f>Sheet1!$E$1</c:f>
              <c:strCache>
                <c:ptCount val="1"/>
                <c:pt idx="0">
                  <c:v>Của ta: thắng thụ động hoặc nhờ vòng</c:v>
                </c:pt>
              </c:strCache>
            </c:strRef>
          </c:tx>
          <c:spPr>
            <a:solidFill>
              <a:srgbClr val="B9B0F0"/>
            </a:solidFill>
            <a:effectLst/>
          </c:spPr>
          <c:invertIfNegative val="0"/>
          <c:cat>
            <c:strRef>
              <c:f>Sheet1!$A$2:$A$8</c:f>
              <c:strCache>
                <c:ptCount val="7"/>
                <c:pt idx="0">
                  <c:v>Của ta · G+s3, search (88.8)</c:v>
                </c:pt>
                <c:pt idx="1">
                  <c:v>Của ta · S3-11, CNN chưng cất (63.8)</c:v>
                </c:pt>
                <c:pt idx="2">
                  <c:v>Của ta · G, RL thuần (36.3)</c:v>
                </c:pt>
                <c:pt idx="3">
                  <c:v>Weil 2023 · MCTS + model học (61–78)</c:v>
                </c:pt>
                <c:pt idx="4">
                  <c:v>Perez-Liebana 2019 · MCTS (46.5)</c:v>
                </c:pt>
                <c:pt idx="5">
                  <c:v>Gao 2019 · PPO + lọc hành động (40–43)</c:v>
                </c:pt>
                <c:pt idx="6">
                  <c:v>Perez-Liebana 2019 · RHEA (33.0)</c:v>
                </c:pt>
              </c:strCache>
            </c:strRef>
          </c:cat>
          <c:val>
            <c:numRef>
              <c:f>Sheet1!$E$2:$E$8</c:f>
              <c:numCache>
                <c:formatCode>General</c:formatCode>
                <c:ptCount val="7"/>
                <c:pt idx="0">
                  <c:v>2.5</c:v>
                </c:pt>
                <c:pt idx="1">
                  <c:v>4.4000000000000004</c:v>
                </c:pt>
                <c:pt idx="2">
                  <c:v>13.2</c:v>
                </c:pt>
                <c:pt idx="3">
                  <c:v>0</c:v>
                </c:pt>
                <c:pt idx="4">
                  <c:v>0</c:v>
                </c:pt>
                <c:pt idx="5">
                  <c:v>0</c:v>
                </c:pt>
                <c:pt idx="6">
                  <c:v>0</c:v>
                </c:pt>
              </c:numCache>
            </c:numRef>
          </c:val>
          <c:extLst>
            <c:ext xmlns:c16="http://schemas.microsoft.com/office/drawing/2014/chart" uri="{C3380CC4-5D6E-409C-BE32-E72D297353CC}">
              <c16:uniqueId val="{00000003-6E37-4051-9665-29CF21B26DD1}"/>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142B"/>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9525" cap="flat">
              <a:solidFill>
                <a:srgbClr val="E3E5EF"/>
              </a:solidFill>
              <a:prstDash val="solid"/>
              <a:round/>
            </a:ln>
          </c:spPr>
        </c:majorGridlines>
        <c:title>
          <c:tx>
            <c:rich>
              <a:bodyPr/>
              <a:lstStyle/>
              <a:p>
                <a:pPr>
                  <a:defRPr sz="1200" b="0" i="0" u="none" strike="noStrike">
                    <a:solidFill>
                      <a:srgbClr val="5B607A"/>
                    </a:solidFill>
                    <a:latin typeface="+mn-lt"/>
                  </a:defRPr>
                </a:pPr>
                <a:r>
                  <a:rPr lang="en-US" sz="1200" b="0" i="0" u="none" strike="noStrike">
                    <a:solidFill>
                      <a:srgbClr val="5B607A"/>
                    </a:solidFill>
                    <a:latin typeface="+mn-lt"/>
                  </a:rPr>
                  <a:t>Tỉ lệ thắng WR (%)</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07A"/>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title>
      <c:tx>
        <c:rich>
          <a:bodyPr/>
          <a:lstStyle/>
          <a:p>
            <a:pPr>
              <a:defRPr sz="1400" b="0" i="0" u="none" strike="noStrike">
                <a:solidFill>
                  <a:srgbClr val="14142B"/>
                </a:solidFill>
                <a:latin typeface="+mn-lt"/>
              </a:defRPr>
            </a:pPr>
            <a:r>
              <a:rPr lang="en-US" sz="1400" b="0" i="0" u="none" strike="noStrike">
                <a:solidFill>
                  <a:srgbClr val="14142B"/>
                </a:solidFill>
                <a:latin typeface="+mn-lt"/>
              </a:rPr>
              <a:t>FFA 3 agent, 9×9: ActiveWR (%)</a:t>
            </a:r>
          </a:p>
        </c:rich>
      </c:tx>
      <c:overlay val="0"/>
    </c:title>
    <c:autoTitleDeleted val="0"/>
    <c:plotArea>
      <c:layout/>
      <c:barChart>
        <c:barDir val="col"/>
        <c:grouping val="clustered"/>
        <c:varyColors val="0"/>
        <c:ser>
          <c:idx val="0"/>
          <c:order val="0"/>
          <c:tx>
            <c:strRef>
              <c:f>Sheet1!$B$1</c:f>
              <c:strCache>
                <c:ptCount val="1"/>
                <c:pt idx="0">
                  <c:v>ActiveWR</c:v>
                </c:pt>
              </c:strCache>
            </c:strRef>
          </c:tx>
          <c:spPr>
            <a:solidFill>
              <a:srgbClr val="1B4F94"/>
            </a:solidFill>
            <a:effectLst/>
          </c:spPr>
          <c:invertIfNegative val="0"/>
          <c:dPt>
            <c:idx val="0"/>
            <c:invertIfNegative val="0"/>
            <c:bubble3D val="0"/>
            <c:extLst>
              <c:ext xmlns:c16="http://schemas.microsoft.com/office/drawing/2014/chart" uri="{C3380CC4-5D6E-409C-BE32-E72D297353CC}">
                <c16:uniqueId val="{00000001-A909-46CC-A6E2-02A3F1BDF643}"/>
              </c:ext>
            </c:extLst>
          </c:dPt>
          <c:dPt>
            <c:idx val="1"/>
            <c:invertIfNegative val="0"/>
            <c:bubble3D val="0"/>
            <c:spPr>
              <a:solidFill>
                <a:srgbClr val="3D2F9B"/>
              </a:solidFill>
              <a:effectLst/>
            </c:spPr>
            <c:extLst>
              <c:ext xmlns:c16="http://schemas.microsoft.com/office/drawing/2014/chart" uri="{C3380CC4-5D6E-409C-BE32-E72D297353CC}">
                <c16:uniqueId val="{00000003-A909-46CC-A6E2-02A3F1BDF643}"/>
              </c:ext>
            </c:extLst>
          </c:dPt>
          <c:dLbls>
            <c:numFmt formatCode="0.0" sourceLinked="0"/>
            <c:spPr>
              <a:noFill/>
              <a:ln>
                <a:noFill/>
              </a:ln>
              <a:effectLst/>
            </c:spPr>
            <c:txPr>
              <a:bodyPr/>
              <a:lstStyle/>
              <a:p>
                <a:pPr>
                  <a:defRPr sz="1400" b="1" i="0" u="none" strike="noStrike">
                    <a:solidFill>
                      <a:srgbClr val="1414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 (RL)</c:v>
                </c:pt>
                <c:pt idx="1">
                  <c:v>S3</c:v>
                </c:pt>
              </c:strCache>
            </c:strRef>
          </c:cat>
          <c:val>
            <c:numRef>
              <c:f>Sheet1!$B$2:$B$3</c:f>
              <c:numCache>
                <c:formatCode>General</c:formatCode>
                <c:ptCount val="2"/>
                <c:pt idx="0">
                  <c:v>36.1</c:v>
                </c:pt>
                <c:pt idx="1">
                  <c:v>82.8</c:v>
                </c:pt>
              </c:numCache>
            </c:numRef>
          </c:val>
          <c:extLst>
            <c:ext xmlns:c16="http://schemas.microsoft.com/office/drawing/2014/chart" uri="{C3380CC4-5D6E-409C-BE32-E72D297353CC}">
              <c16:uniqueId val="{00000004-A909-46CC-A6E2-02A3F1BDF64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42B"/>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3E5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07A"/>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title>
      <c:tx>
        <c:rich>
          <a:bodyPr/>
          <a:lstStyle/>
          <a:p>
            <a:pPr>
              <a:defRPr sz="1400" b="0" i="0" u="none" strike="noStrike">
                <a:solidFill>
                  <a:srgbClr val="14142B"/>
                </a:solidFill>
                <a:latin typeface="+mn-lt"/>
              </a:defRPr>
            </a:pPr>
            <a:r>
              <a:rPr lang="en-US" sz="1400" b="0" i="0" u="none" strike="noStrike">
                <a:solidFill>
                  <a:srgbClr val="14142B"/>
                </a:solidFill>
                <a:latin typeface="+mn-lt"/>
              </a:rPr>
              <a:t>FFA 4 agent, 11×11: ActiveWR (%)</a:t>
            </a:r>
          </a:p>
        </c:rich>
      </c:tx>
      <c:overlay val="0"/>
    </c:title>
    <c:autoTitleDeleted val="0"/>
    <c:plotArea>
      <c:layout/>
      <c:barChart>
        <c:barDir val="col"/>
        <c:grouping val="clustered"/>
        <c:varyColors val="0"/>
        <c:ser>
          <c:idx val="0"/>
          <c:order val="0"/>
          <c:tx>
            <c:strRef>
              <c:f>Sheet1!$B$1</c:f>
              <c:strCache>
                <c:ptCount val="1"/>
                <c:pt idx="0">
                  <c:v>ActiveWR</c:v>
                </c:pt>
              </c:strCache>
            </c:strRef>
          </c:tx>
          <c:spPr>
            <a:solidFill>
              <a:srgbClr val="1B4F94"/>
            </a:solidFill>
            <a:effectLst/>
          </c:spPr>
          <c:invertIfNegative val="0"/>
          <c:dPt>
            <c:idx val="0"/>
            <c:invertIfNegative val="0"/>
            <c:bubble3D val="0"/>
            <c:extLst>
              <c:ext xmlns:c16="http://schemas.microsoft.com/office/drawing/2014/chart" uri="{C3380CC4-5D6E-409C-BE32-E72D297353CC}">
                <c16:uniqueId val="{00000001-002C-4193-B868-554E67DF5E26}"/>
              </c:ext>
            </c:extLst>
          </c:dPt>
          <c:dPt>
            <c:idx val="1"/>
            <c:invertIfNegative val="0"/>
            <c:bubble3D val="0"/>
            <c:spPr>
              <a:solidFill>
                <a:srgbClr val="B9B0F0"/>
              </a:solidFill>
              <a:effectLst/>
            </c:spPr>
            <c:extLst>
              <c:ext xmlns:c16="http://schemas.microsoft.com/office/drawing/2014/chart" uri="{C3380CC4-5D6E-409C-BE32-E72D297353CC}">
                <c16:uniqueId val="{00000003-002C-4193-B868-554E67DF5E26}"/>
              </c:ext>
            </c:extLst>
          </c:dPt>
          <c:dPt>
            <c:idx val="2"/>
            <c:invertIfNegative val="0"/>
            <c:bubble3D val="0"/>
            <c:spPr>
              <a:solidFill>
                <a:srgbClr val="3D2F9B"/>
              </a:solidFill>
              <a:effectLst/>
            </c:spPr>
            <c:extLst>
              <c:ext xmlns:c16="http://schemas.microsoft.com/office/drawing/2014/chart" uri="{C3380CC4-5D6E-409C-BE32-E72D297353CC}">
                <c16:uniqueId val="{00000005-002C-4193-B868-554E67DF5E26}"/>
              </c:ext>
            </c:extLst>
          </c:dPt>
          <c:dLbls>
            <c:numFmt formatCode="0.0" sourceLinked="0"/>
            <c:spPr>
              <a:noFill/>
              <a:ln>
                <a:noFill/>
              </a:ln>
              <a:effectLst/>
            </c:spPr>
            <c:txPr>
              <a:bodyPr/>
              <a:lstStyle/>
              <a:p>
                <a:pPr>
                  <a:defRPr sz="1400" b="1" i="0" u="none" strike="noStrike">
                    <a:solidFill>
                      <a:srgbClr val="1414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 (RL)</c:v>
                </c:pt>
                <c:pt idx="1">
                  <c:v>S3 nội suy</c:v>
                </c:pt>
                <c:pt idx="2">
                  <c:v>S3-11 chưng cất lại</c:v>
                </c:pt>
              </c:strCache>
            </c:strRef>
          </c:cat>
          <c:val>
            <c:numRef>
              <c:f>Sheet1!$B$2:$B$4</c:f>
              <c:numCache>
                <c:formatCode>General</c:formatCode>
                <c:ptCount val="3"/>
                <c:pt idx="0">
                  <c:v>17.5</c:v>
                </c:pt>
                <c:pt idx="1">
                  <c:v>25</c:v>
                </c:pt>
                <c:pt idx="2">
                  <c:v>59.4</c:v>
                </c:pt>
              </c:numCache>
            </c:numRef>
          </c:val>
          <c:extLst>
            <c:ext xmlns:c16="http://schemas.microsoft.com/office/drawing/2014/chart" uri="{C3380CC4-5D6E-409C-BE32-E72D297353CC}">
              <c16:uniqueId val="{00000006-002C-4193-B868-554E67DF5E2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42B"/>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3E5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07A"/>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08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đề tài là huấn luyện một agent Bomberman biết chủ động hạ gục đối thủ bằng bom, không chỉ sống sót. Bốn khung hình là một ván thật trên bàn validation 21000.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CNN thuần S3 gần bằng thầy search nhưng chạy nhanh. Con số 115 lần là tỉ lệ thời gian mỗi nước (213 ms so với 1.9 ms); báo cáo tổng kết ghi khoảng 70 lần theo thời gian chạy thực của cả ván.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khó khăn: thưởng trễ, khám phá tự sát (khoảng 40% theo Gao 2019), và tín hiệu quyết định rất hiếm. RL thuần cần cỡ 200 triệu bước mà vẫn thua agent search (Huynh 2024).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động lực của C1. Ví dụ mask margin k=15: WR +10.75 nhưng ActiveWR +0.75, vì số lần chết do vòng giảm từ 116 xuống 76 trên 400 trận, nghĩa là agent sống lâu hơn chứ không tấn công giỏi hơn.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khoảng trống đều trích từ phần Related Work và Bảng I của bài báo. Mỗi khoảng trống tương ứng một đóng góp: G1 với C1, G2 với C2–C3, G3 với C2, G4 với C5. C4 (kết quả âm có kiểm soát) hỗ trợ tất cả.</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ba giai đoạn: (1) RL đấu RuleBot tạo B, F, G; (2) kill-search viết tay mô phỏng 12 tick làm chuyên gia, không dùng mạng; (3) chưng cất dày lặp ba vòng để đưa sức mạnh của search vào CNN. Màu giữ nhất quán: xanh là RL, cam là search, tím là chưng cất.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agent, kể cả RuleBot, đi qua cùng một mask an toàn dựa trên dự báo nổ (kênh 11). Đây là lý do về sau hai CNN mạnh gần như không thể giết nhau.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loss actor-critic có baseline học được, cộng bốn teacher phụ (trọng số 0.5, 0.9, 0.4, 0.6; nhân 1.75 sau bước 350). Advantage theo nhóm là điểm mới ở SD7: tăng tỉ lệ giết cục bộ +7.12 pp nhưng không đổi ActiveWR toàn trận quá +0.75.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thức: seed test chỉ dùng một lần, chọn checkpoint trên validation 21000, so ghép cặp theo bàn. GAE và PPO đều được thử trên seed test riêng, đều không qua gate. Bảng V đầy đủ ở phụ lục.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không dùng mạng nơ-ron. Độ sâu 1 chỉ kết liễu; độ sâu 2 và 3 tạo cơ hội giết (đi một bước rồi đặt bom). Mô hình đối thủ là RuleBot, đây cũng là giả định gây hạn chế khi đấu CNN (slide 15).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C2: kiểm chứng hai hướng Kartal đề xuất. Nhãn thưa dùng một lần trong RL (hướng 'gọi ad-hoc') không đổi được CNN. Nhãn lưu lại, có ví dụ ngược và học nhiều epoch (hướng 'buffer') thì chuyển được gần hết lợi thế của search lúc chơi.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Thầy = học trò hiện tại + kill-search. Ở trạng thái search không phân biệt các nước, thầy giữ nước của học trò, nên dữ liệu gần phân phối trạng thái của học trò (ý tưởng DAgger). Không dùng tăng cường đối xứng vì chỉ 79.2% trạng thái giữ nguyên tập nước tốt nhất sau phép đối xứng.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S2 +10.5 [6.5, 14.5] trên khối 57000. Khoảng cách trò − thầy thu hẹp từ −3.75 còn −0.75 trong khi thầy mạnh dần (F+s1 → G+s2 → S2+s3). Search không dùng mạng nên không có bước 'học trò cải thiện chuyên gia' như ExIt gốc, đó là lý do trần ~94%.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VI của bài báo. Không agent nào được chạy trên cả hai môi trường nên đây là định vị chứ không phải đối đầu. Điểm chính: bối cảnh Pommerman khó hơn, nhưng tiêu chí của ta chặt hơn, và ngân sách nhỏ hơn nhiều. Thứ tự giống Pommerman: search dẫn trước học, giữa agent mạnh thì hòa chiếm ưu thế. Chưa chạy trên Pommerman chính thức.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 phân tích hòa. Search đoán đối thủ bằng RuleBot thấy kế hoạch giết ở 90.3% trận hòa, nhưng bẫy kiểu RuleBot không ăn với CNN. Với mô hình đối thủ đúng chỉ còn 15.9% [9.9, 22.7], nên phần lớn hòa là do cấu trúc game. Dời vòng co sớm hơn (bước 400, 350, 300) không giúp.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khối FFA khác nhau (160–180 trận mỗi khối), nên G chỉ so ghép cặp trên cùng khối: G dao động khoảng ±9pp giữa hai khối. Điểm chính: phải chưng cất lại trên bàn mới, không nội suy trọng số.</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sáu đóng góp C1–C6. Giới hạn trung thực: chủ yếu 1v1 9×9 trước một đối thủ scripted; vòng chưng cất S2→S3 đã lặp qua 3 seed và ổn định, còn các nhánh RL chỉ một seed.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73952"/>
            <a:ext cx="7315200" cy="256032"/>
          </a:xfrm>
          <a:prstGeom prst="rect">
            <a:avLst/>
          </a:prstGeom>
          <a:noFill/>
          <a:ln/>
        </p:spPr>
        <p:txBody>
          <a:bodyPr wrap="square" lIns="0" tIns="0" rIns="0" bIns="0" rtlCol="0" anchor="ctr"/>
          <a:lstStyle/>
          <a:p>
            <a:pPr marL="0" indent="0">
              <a:buNone/>
            </a:pPr>
            <a:r>
              <a:rPr lang="en-US" sz="1000" dirty="0">
                <a:solidFill>
                  <a:schemeClr val="accent5"/>
                </a:solidFill>
              </a:rPr>
              <a:t>Bomberman RL · từ actor-critic đến chưng cất search</a:t>
            </a:r>
            <a:endParaRPr lang="en-US" sz="10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6035040" cy="22860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6035040" cy="2286000"/>
          </a:xfrm>
          <a:prstGeom prst="rect">
            <a:avLst/>
          </a:prstGeom>
          <a:noFill/>
          <a:ln/>
        </p:spPr>
        <p:txBody>
          <a:bodyPr wrap="square" lIns="0" tIns="0" rIns="0" bIns="0" rtlCol="0" anchor="t"/>
          <a:lstStyle/>
          <a:p>
            <a:pPr marL="0" indent="0" algn="l">
              <a:buNone/>
            </a:pPr>
            <a:r>
              <a:rPr lang="en-US" sz="4400" b="1" dirty="0">
                <a:solidFill>
                  <a:schemeClr val="bg1"/>
                </a:solidFill>
              </a:rPr>
              <a:t>Dạy CNN hạ gục đối thủ trong Bomberman</a:t>
            </a:r>
            <a:endParaRPr lang="en-US" sz="4400" dirty="0"/>
          </a:p>
        </p:txBody>
      </p:sp>
      <p:sp>
        <p:nvSpPr>
          <p:cNvPr id="3" name="text-1"/>
          <p:cNvSpPr txBox="1"/>
          <p:nvPr/>
        </p:nvSpPr>
        <p:spPr>
          <a:xfrm>
            <a:off x="640080" y="3977640"/>
            <a:ext cx="6035040" cy="457200"/>
          </a:xfrm>
          <a:prstGeom prst="rect">
            <a:avLst/>
          </a:prstGeom>
          <a:noFill/>
          <a:ln/>
        </p:spPr>
        <p:txBody>
          <a:bodyPr wrap="square" lIns="0" tIns="0" rIns="0" bIns="0" rtlCol="0" anchor="t"/>
          <a:lstStyle/>
          <a:p>
            <a:pPr marL="0" indent="0">
              <a:buNone/>
            </a:pPr>
            <a:r>
              <a:rPr lang="en-US" sz="2200" dirty="0">
                <a:solidFill>
                  <a:schemeClr val="bg2"/>
                </a:solidFill>
              </a:rPr>
              <a:t>Từ actor-critic đến chưng cất search</a:t>
            </a:r>
            <a:endParaRPr lang="en-US" sz="2200" dirty="0"/>
          </a:p>
        </p:txBody>
      </p:sp>
      <p:sp>
        <p:nvSpPr>
          <p:cNvPr id="4" name="text-2"/>
          <p:cNvSpPr txBox="1"/>
          <p:nvPr/>
        </p:nvSpPr>
        <p:spPr>
          <a:xfrm>
            <a:off x="640080" y="4663440"/>
            <a:ext cx="5852160" cy="640080"/>
          </a:xfrm>
          <a:prstGeom prst="rect">
            <a:avLst/>
          </a:prstGeom>
          <a:noFill/>
          <a:ln/>
        </p:spPr>
        <p:txBody>
          <a:bodyPr wrap="square" lIns="0" tIns="0" rIns="0" bIns="0" rtlCol="0" anchor="t"/>
          <a:lstStyle/>
          <a:p>
            <a:pPr marL="0" indent="0">
              <a:buNone/>
            </a:pPr>
            <a:r>
              <a:rPr lang="en-US" sz="1600" dirty="0">
                <a:solidFill>
                  <a:schemeClr val="accent3"/>
                </a:solidFill>
              </a:rPr>
              <a:t>S3: một lượt chạy mạng mỗi nước, ActiveWR 92.25% trước RuleBot</a:t>
            </a:r>
            <a:endParaRPr lang="en-US" sz="1600" dirty="0"/>
          </a:p>
        </p:txBody>
      </p:sp>
      <p:sp>
        <p:nvSpPr>
          <p:cNvPr id="5" name="text-3"/>
          <p:cNvSpPr txBox="1"/>
          <p:nvPr/>
        </p:nvSpPr>
        <p:spPr>
          <a:xfrm>
            <a:off x="640080" y="5943600"/>
            <a:ext cx="4572000" cy="274320"/>
          </a:xfrm>
          <a:prstGeom prst="rect">
            <a:avLst/>
          </a:prstGeom>
          <a:noFill/>
          <a:ln/>
        </p:spPr>
        <p:txBody>
          <a:bodyPr wrap="square" lIns="0" tIns="0" rIns="0" bIns="0" rtlCol="0" anchor="t"/>
          <a:lstStyle/>
          <a:p>
            <a:pPr marL="0" indent="0">
              <a:buNone/>
            </a:pPr>
            <a:endParaRPr lang="en-US" sz="1400" dirty="0"/>
          </a:p>
        </p:txBody>
      </p:sp>
      <p:pic>
        <p:nvPicPr>
          <p:cNvPr id="6" name="frame-4" descr="Khung hình 1 của ván thật: S3 bẫy RuleBot giữa hai quả bom"/>
          <p:cNvPicPr>
            <a:picLocks noChangeAspect="1"/>
          </p:cNvPicPr>
          <p:nvPr/>
        </p:nvPicPr>
        <p:blipFill>
          <a:blip r:embed="rId3"/>
          <a:stretch>
            <a:fillRect/>
          </a:stretch>
        </p:blipFill>
        <p:spPr>
          <a:xfrm>
            <a:off x="7498080" y="1051560"/>
            <a:ext cx="2103120" cy="2103120"/>
          </a:xfrm>
          <a:prstGeom prst="rect">
            <a:avLst/>
          </a:prstGeom>
        </p:spPr>
      </p:pic>
      <p:pic>
        <p:nvPicPr>
          <p:cNvPr id="7" name="frame-5" descr="Khung hình 2 của ván thật: S3 bẫy RuleBot giữa hai quả bom"/>
          <p:cNvPicPr>
            <a:picLocks noChangeAspect="1"/>
          </p:cNvPicPr>
          <p:nvPr/>
        </p:nvPicPr>
        <p:blipFill>
          <a:blip r:embed="rId4"/>
          <a:stretch>
            <a:fillRect/>
          </a:stretch>
        </p:blipFill>
        <p:spPr>
          <a:xfrm>
            <a:off x="9692640" y="1051560"/>
            <a:ext cx="2103120" cy="2103120"/>
          </a:xfrm>
          <a:prstGeom prst="rect">
            <a:avLst/>
          </a:prstGeom>
        </p:spPr>
      </p:pic>
      <p:pic>
        <p:nvPicPr>
          <p:cNvPr id="8" name="frame-6" descr="Khung hình 3 của ván thật: S3 bẫy RuleBot giữa hai quả bom"/>
          <p:cNvPicPr>
            <a:picLocks noChangeAspect="1"/>
          </p:cNvPicPr>
          <p:nvPr/>
        </p:nvPicPr>
        <p:blipFill>
          <a:blip r:embed="rId5"/>
          <a:stretch>
            <a:fillRect/>
          </a:stretch>
        </p:blipFill>
        <p:spPr>
          <a:xfrm>
            <a:off x="7498080" y="3246120"/>
            <a:ext cx="2103120" cy="2103120"/>
          </a:xfrm>
          <a:prstGeom prst="rect">
            <a:avLst/>
          </a:prstGeom>
        </p:spPr>
      </p:pic>
      <p:pic>
        <p:nvPicPr>
          <p:cNvPr id="9" name="frame-7" descr="Khung hình 4 của ván thật: S3 bẫy RuleBot giữa hai quả bom"/>
          <p:cNvPicPr>
            <a:picLocks noChangeAspect="1"/>
          </p:cNvPicPr>
          <p:nvPr/>
        </p:nvPicPr>
        <p:blipFill>
          <a:blip r:embed="rId6"/>
          <a:stretch>
            <a:fillRect/>
          </a:stretch>
        </p:blipFill>
        <p:spPr>
          <a:xfrm>
            <a:off x="9692640" y="3246120"/>
            <a:ext cx="2103120" cy="2103120"/>
          </a:xfrm>
          <a:prstGeom prst="rect">
            <a:avLst/>
          </a:prstGeom>
        </p:spPr>
      </p:pic>
      <p:sp>
        <p:nvSpPr>
          <p:cNvPr id="10" name="text-8"/>
          <p:cNvSpPr txBox="1"/>
          <p:nvPr/>
        </p:nvSpPr>
        <p:spPr>
          <a:xfrm>
            <a:off x="7498080" y="5486400"/>
            <a:ext cx="4297680" cy="640080"/>
          </a:xfrm>
          <a:prstGeom prst="rect">
            <a:avLst/>
          </a:prstGeom>
          <a:noFill/>
          <a:ln/>
        </p:spPr>
        <p:txBody>
          <a:bodyPr wrap="square" lIns="0" tIns="0" rIns="0" bIns="0" rtlCol="0" anchor="t"/>
          <a:lstStyle/>
          <a:p>
            <a:pPr marL="0" indent="0">
              <a:buNone/>
            </a:pPr>
            <a:r>
              <a:rPr lang="en-US" sz="1200" dirty="0">
                <a:solidFill>
                  <a:schemeClr val="bg2"/>
                </a:solidFill>
              </a:rPr>
              <a:t>Bốn khung hình thật (bước 110, 114, 116, 117): S3 đặt hai quả bom, RuleBot bị kẹt và bị giết bằng bom của S3.</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S3 đạt 92.25% ActiveWR chỉ với một lượt chạy mạng mỗi nước</a:t>
            </a:r>
            <a:endParaRPr lang="en-US" sz="3000" dirty="0"/>
          </a:p>
        </p:txBody>
      </p:sp>
      <p:sp>
        <p:nvSpPr>
          <p:cNvPr id="3" name="text-9"/>
          <p:cNvSpPr txBox="1"/>
          <p:nvPr/>
        </p:nvSpPr>
        <p:spPr>
          <a:xfrm>
            <a:off x="548640" y="1371600"/>
            <a:ext cx="4754880" cy="731520"/>
          </a:xfrm>
          <a:prstGeom prst="rect">
            <a:avLst/>
          </a:prstGeom>
          <a:noFill/>
          <a:ln/>
        </p:spPr>
        <p:txBody>
          <a:bodyPr wrap="square" lIns="0" tIns="0" rIns="0" bIns="0" rtlCol="0" anchor="t"/>
          <a:lstStyle/>
          <a:p>
            <a:pPr marL="0" indent="0">
              <a:buNone/>
            </a:pPr>
            <a:r>
              <a:rPr lang="en-US" sz="4800" b="1" dirty="0">
                <a:solidFill>
                  <a:schemeClr val="accent4"/>
                </a:solidFill>
                <a:latin typeface="+mj-lt" pitchFamily="34" charset="0"/>
                <a:ea typeface="+mj-lt" pitchFamily="34" charset="-122"/>
                <a:cs typeface="+mj-lt" pitchFamily="34" charset="-120"/>
              </a:rPr>
              <a:t>92.25%</a:t>
            </a:r>
            <a:endParaRPr lang="en-US" sz="4800" dirty="0"/>
          </a:p>
        </p:txBody>
      </p:sp>
      <p:sp>
        <p:nvSpPr>
          <p:cNvPr id="4" name="text-10"/>
          <p:cNvSpPr txBox="1"/>
          <p:nvPr/>
        </p:nvSpPr>
        <p:spPr>
          <a:xfrm>
            <a:off x="548640" y="2121408"/>
            <a:ext cx="4754880" cy="731520"/>
          </a:xfrm>
          <a:prstGeom prst="rect">
            <a:avLst/>
          </a:prstGeom>
          <a:noFill/>
          <a:ln/>
        </p:spPr>
        <p:txBody>
          <a:bodyPr wrap="square" lIns="0" tIns="0" rIns="0" bIns="0" rtlCol="0" anchor="t"/>
          <a:lstStyle/>
          <a:p>
            <a:pPr marL="0" indent="0">
              <a:buNone/>
            </a:pPr>
            <a:r>
              <a:rPr lang="en-US" sz="1400" dirty="0">
                <a:solidFill>
                  <a:schemeClr val="tx1"/>
                </a:solidFill>
              </a:rPr>
              <a:t>ActiveWR của S3 trước RuleBot (400 trận, test chỉ mở một lần)</a:t>
            </a:r>
            <a:endParaRPr lang="en-US" sz="1400" dirty="0"/>
          </a:p>
        </p:txBody>
      </p:sp>
      <p:sp>
        <p:nvSpPr>
          <p:cNvPr id="5" name="text-11"/>
          <p:cNvSpPr txBox="1"/>
          <p:nvPr/>
        </p:nvSpPr>
        <p:spPr>
          <a:xfrm>
            <a:off x="548640" y="3017520"/>
            <a:ext cx="4754880" cy="731520"/>
          </a:xfrm>
          <a:prstGeom prst="rect">
            <a:avLst/>
          </a:prstGeom>
          <a:noFill/>
          <a:ln/>
        </p:spPr>
        <p:txBody>
          <a:bodyPr wrap="square" lIns="0" tIns="0" rIns="0" bIns="0" rtlCol="0" anchor="t"/>
          <a:lstStyle/>
          <a:p>
            <a:pPr marL="0" indent="0">
              <a:buNone/>
            </a:pPr>
            <a:r>
              <a:rPr lang="en-US" sz="4800" b="1" dirty="0">
                <a:solidFill>
                  <a:schemeClr val="accent6"/>
                </a:solidFill>
                <a:latin typeface="+mj-lt" pitchFamily="34" charset="0"/>
                <a:ea typeface="+mj-lt" pitchFamily="34" charset="-122"/>
                <a:cs typeface="+mj-lt" pitchFamily="34" charset="-120"/>
              </a:rPr>
              <a:t>−1.75</a:t>
            </a:r>
            <a:endParaRPr lang="en-US" sz="4800" dirty="0"/>
          </a:p>
        </p:txBody>
      </p:sp>
      <p:sp>
        <p:nvSpPr>
          <p:cNvPr id="6" name="text-12"/>
          <p:cNvSpPr txBox="1"/>
          <p:nvPr/>
        </p:nvSpPr>
        <p:spPr>
          <a:xfrm>
            <a:off x="548640" y="3767328"/>
            <a:ext cx="4754880" cy="731520"/>
          </a:xfrm>
          <a:prstGeom prst="rect">
            <a:avLst/>
          </a:prstGeom>
          <a:noFill/>
          <a:ln/>
        </p:spPr>
        <p:txBody>
          <a:bodyPr wrap="square" lIns="0" tIns="0" rIns="0" bIns="0" rtlCol="0" anchor="t"/>
          <a:lstStyle/>
          <a:p>
            <a:pPr marL="0" indent="0">
              <a:buNone/>
            </a:pPr>
            <a:r>
              <a:rPr lang="en-US" sz="1400" dirty="0">
                <a:solidFill>
                  <a:schemeClr val="tx1"/>
                </a:solidFill>
              </a:rPr>
              <a:t>điểm so với thầy G + search ba nước (94.0); CI95 [−5.0, +1.5] chứa 0</a:t>
            </a:r>
            <a:endParaRPr lang="en-US" sz="1400" dirty="0"/>
          </a:p>
        </p:txBody>
      </p:sp>
      <p:sp>
        <p:nvSpPr>
          <p:cNvPr id="7" name="text-13"/>
          <p:cNvSpPr txBox="1"/>
          <p:nvPr/>
        </p:nvSpPr>
        <p:spPr>
          <a:xfrm>
            <a:off x="548640" y="4663440"/>
            <a:ext cx="4754880" cy="731520"/>
          </a:xfrm>
          <a:prstGeom prst="rect">
            <a:avLst/>
          </a:prstGeom>
          <a:noFill/>
          <a:ln/>
        </p:spPr>
        <p:txBody>
          <a:bodyPr wrap="square" lIns="0" tIns="0" rIns="0" bIns="0" rtlCol="0" anchor="t"/>
          <a:lstStyle/>
          <a:p>
            <a:pPr marL="0" indent="0">
              <a:buNone/>
            </a:pPr>
            <a:r>
              <a:rPr lang="en-US" sz="4800" b="1" dirty="0">
                <a:solidFill>
                  <a:schemeClr val="accent1"/>
                </a:solidFill>
                <a:latin typeface="+mj-lt" pitchFamily="34" charset="0"/>
                <a:ea typeface="+mj-lt" pitchFamily="34" charset="-122"/>
                <a:cs typeface="+mj-lt" pitchFamily="34" charset="-120"/>
              </a:rPr>
              <a:t>1.9 ms</a:t>
            </a:r>
            <a:endParaRPr lang="en-US" sz="4800" dirty="0"/>
          </a:p>
        </p:txBody>
      </p:sp>
      <p:sp>
        <p:nvSpPr>
          <p:cNvPr id="8" name="text-14"/>
          <p:cNvSpPr txBox="1"/>
          <p:nvPr/>
        </p:nvSpPr>
        <p:spPr>
          <a:xfrm>
            <a:off x="548640" y="5413248"/>
            <a:ext cx="4754880" cy="731520"/>
          </a:xfrm>
          <a:prstGeom prst="rect">
            <a:avLst/>
          </a:prstGeom>
          <a:noFill/>
          <a:ln/>
        </p:spPr>
        <p:txBody>
          <a:bodyPr wrap="square" lIns="0" tIns="0" rIns="0" bIns="0" rtlCol="0" anchor="t"/>
          <a:lstStyle/>
          <a:p>
            <a:pPr marL="0" indent="0">
              <a:buNone/>
            </a:pPr>
            <a:r>
              <a:rPr lang="en-US" sz="1400" dirty="0">
                <a:solidFill>
                  <a:schemeClr val="tx1"/>
                </a:solidFill>
              </a:rPr>
              <a:t>mỗi nước, so với 213 ms của search ba nước (khoảng 115 lần ít tính toán hơn)</a:t>
            </a:r>
            <a:endParaRPr lang="en-US" sz="1400" dirty="0"/>
          </a:p>
        </p:txBody>
      </p:sp>
      <p:pic>
        <p:nvPicPr>
          <p:cNvPr id="9" name="img-15" descr="Biểu đồ ActiveWR của các mốc B, F, G, S, S2, S3 và G cộng search độ sâu 1, 2, 3"/>
          <p:cNvPicPr>
            <a:picLocks noChangeAspect="1"/>
          </p:cNvPicPr>
          <p:nvPr/>
        </p:nvPicPr>
        <p:blipFill>
          <a:blip r:embed="rId3"/>
          <a:stretch>
            <a:fillRect/>
          </a:stretch>
        </p:blipFill>
        <p:spPr>
          <a:xfrm>
            <a:off x="5760720" y="1371600"/>
            <a:ext cx="5852160" cy="4313564"/>
          </a:xfrm>
          <a:prstGeom prst="rect">
            <a:avLst/>
          </a:prstGeom>
        </p:spPr>
      </p:pic>
      <p:sp>
        <p:nvSpPr>
          <p:cNvPr id="10" name="text-16"/>
          <p:cNvSpPr txBox="1"/>
          <p:nvPr/>
        </p:nvSpPr>
        <p:spPr>
          <a:xfrm>
            <a:off x="5760720" y="5776604"/>
            <a:ext cx="5852160" cy="548640"/>
          </a:xfrm>
          <a:prstGeom prst="rect">
            <a:avLst/>
          </a:prstGeom>
          <a:noFill/>
          <a:ln/>
        </p:spPr>
        <p:txBody>
          <a:bodyPr wrap="square" lIns="0" tIns="0" rIns="0" bIns="0" rtlCol="0" anchor="t"/>
          <a:lstStyle/>
          <a:p>
            <a:pPr marL="0" indent="0">
              <a:buNone/>
            </a:pPr>
            <a:r>
              <a:rPr lang="en-US" sz="1200" dirty="0">
                <a:solidFill>
                  <a:schemeClr val="accent5"/>
                </a:solidFill>
              </a:rPr>
              <a:t>Xanh: RL thuần. Cam: G + kill-search lúc chơi. Tím: CNN chưng cất. Mỗi cột dùng khối test riêng nên chỉ so sánh mô tả. Điểm xuất phát B = 40.0.</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Problem: Bomberman khó với RL vì thưởng thưa và trễ</a:t>
            </a:r>
            <a:endParaRPr lang="en-US" sz="3000" dirty="0"/>
          </a:p>
        </p:txBody>
      </p:sp>
      <p:pic>
        <p:nvPicPr>
          <p:cNvPr id="3" name="img-17" descr="Bốn khung hình thật của một ván: S3 đặt hai quả bom và giết RuleBot"/>
          <p:cNvPicPr>
            <a:picLocks noChangeAspect="1"/>
          </p:cNvPicPr>
          <p:nvPr/>
        </p:nvPicPr>
        <p:blipFill>
          <a:blip r:embed="rId3"/>
          <a:stretch>
            <a:fillRect/>
          </a:stretch>
        </p:blipFill>
        <p:spPr>
          <a:xfrm>
            <a:off x="548640" y="1280160"/>
            <a:ext cx="11091672" cy="3468145"/>
          </a:xfrm>
          <a:prstGeom prst="rect">
            <a:avLst/>
          </a:prstGeom>
        </p:spPr>
      </p:pic>
      <p:sp>
        <p:nvSpPr>
          <p:cNvPr id="4" name="text-18"/>
          <p:cNvSpPr txBox="1"/>
          <p:nvPr/>
        </p:nvSpPr>
        <p:spPr>
          <a:xfrm>
            <a:off x="548640" y="4794025"/>
            <a:ext cx="11091672" cy="274320"/>
          </a:xfrm>
          <a:prstGeom prst="rect">
            <a:avLst/>
          </a:prstGeom>
          <a:noFill/>
          <a:ln/>
        </p:spPr>
        <p:txBody>
          <a:bodyPr wrap="square" lIns="0" tIns="0" rIns="0" bIns="0" rtlCol="0" anchor="t"/>
          <a:lstStyle/>
          <a:p>
            <a:pPr marL="0" indent="0">
              <a:buNone/>
            </a:pPr>
            <a:r>
              <a:rPr lang="en-US" sz="1200" dirty="0">
                <a:solidFill>
                  <a:schemeClr val="accent5"/>
                </a:solidFill>
              </a:rPr>
              <a:t>Một ván thật: S3 (xanh lá) đặt bom, RuleBot (xanh dương) bị kẹt giữa hai quả bom và bị giết ở bước 117.</a:t>
            </a:r>
            <a:endParaRPr lang="en-US" sz="1200" dirty="0"/>
          </a:p>
        </p:txBody>
      </p:sp>
      <p:sp>
        <p:nvSpPr>
          <p:cNvPr id="5" name="card-19"/>
          <p:cNvSpPr/>
          <p:nvPr/>
        </p:nvSpPr>
        <p:spPr>
          <a:xfrm>
            <a:off x="548640" y="5120640"/>
            <a:ext cx="3566160" cy="1234440"/>
          </a:xfrm>
          <a:prstGeom prst="roundRect">
            <a:avLst>
              <a:gd name="adj" fmla="val 5926"/>
            </a:avLst>
          </a:prstGeom>
          <a:solidFill>
            <a:schemeClr val="bg2"/>
          </a:solidFill>
          <a:ln w="12700">
            <a:solidFill>
              <a:schemeClr val="bg2"/>
            </a:solidFill>
            <a:prstDash val="solid"/>
          </a:ln>
        </p:spPr>
      </p:sp>
      <p:sp>
        <p:nvSpPr>
          <p:cNvPr id="6" name="text-20"/>
          <p:cNvSpPr txBox="1"/>
          <p:nvPr/>
        </p:nvSpPr>
        <p:spPr>
          <a:xfrm>
            <a:off x="731520" y="5212080"/>
            <a:ext cx="1371600" cy="457200"/>
          </a:xfrm>
          <a:prstGeom prst="rect">
            <a:avLst/>
          </a:prstGeom>
          <a:noFill/>
          <a:ln/>
        </p:spPr>
        <p:txBody>
          <a:bodyPr wrap="square" lIns="0" tIns="0" rIns="0" bIns="0" rtlCol="0" anchor="t"/>
          <a:lstStyle/>
          <a:p>
            <a:pPr marL="0" indent="0">
              <a:buNone/>
            </a:pPr>
            <a:r>
              <a:rPr lang="en-US" sz="2800" b="1" dirty="0">
                <a:solidFill>
                  <a:schemeClr val="accent1"/>
                </a:solidFill>
                <a:latin typeface="+mj-lt" pitchFamily="34" charset="0"/>
                <a:ea typeface="+mj-lt" pitchFamily="34" charset="-122"/>
                <a:cs typeface="+mj-lt" pitchFamily="34" charset="-120"/>
              </a:rPr>
              <a:t>8 tick</a:t>
            </a:r>
            <a:endParaRPr lang="en-US" sz="2800" dirty="0"/>
          </a:p>
        </p:txBody>
      </p:sp>
      <p:sp>
        <p:nvSpPr>
          <p:cNvPr id="7" name="text-21"/>
          <p:cNvSpPr txBox="1"/>
          <p:nvPr/>
        </p:nvSpPr>
        <p:spPr>
          <a:xfrm>
            <a:off x="731520" y="5669280"/>
            <a:ext cx="3200400" cy="640080"/>
          </a:xfrm>
          <a:prstGeom prst="rect">
            <a:avLst/>
          </a:prstGeom>
          <a:noFill/>
          <a:ln/>
        </p:spPr>
        <p:txBody>
          <a:bodyPr wrap="square" lIns="0" tIns="0" rIns="0" bIns="0" rtlCol="0" anchor="t"/>
          <a:lstStyle/>
          <a:p>
            <a:pPr marL="0" indent="0">
              <a:buNone/>
            </a:pPr>
            <a:r>
              <a:rPr lang="en-US" sz="1400" dirty="0">
                <a:solidFill>
                  <a:schemeClr val="tx1"/>
                </a:solidFill>
              </a:rPr>
              <a:t>bom nổ sau 8 bước, nên phần thưởng giết đến rất trễ so với quyết định đặt bom</a:t>
            </a:r>
            <a:endParaRPr lang="en-US" sz="1400" dirty="0"/>
          </a:p>
        </p:txBody>
      </p:sp>
      <p:sp>
        <p:nvSpPr>
          <p:cNvPr id="8" name="card-22"/>
          <p:cNvSpPr/>
          <p:nvPr/>
        </p:nvSpPr>
        <p:spPr>
          <a:xfrm>
            <a:off x="4311396" y="5120640"/>
            <a:ext cx="3566160" cy="1234440"/>
          </a:xfrm>
          <a:prstGeom prst="roundRect">
            <a:avLst>
              <a:gd name="adj" fmla="val 5926"/>
            </a:avLst>
          </a:prstGeom>
          <a:solidFill>
            <a:schemeClr val="bg2"/>
          </a:solidFill>
          <a:ln w="12700">
            <a:solidFill>
              <a:schemeClr val="bg2"/>
            </a:solidFill>
            <a:prstDash val="solid"/>
          </a:ln>
        </p:spPr>
      </p:sp>
      <p:sp>
        <p:nvSpPr>
          <p:cNvPr id="9" name="text-23"/>
          <p:cNvSpPr txBox="1"/>
          <p:nvPr/>
        </p:nvSpPr>
        <p:spPr>
          <a:xfrm>
            <a:off x="4494276" y="5212080"/>
            <a:ext cx="1371600" cy="457200"/>
          </a:xfrm>
          <a:prstGeom prst="rect">
            <a:avLst/>
          </a:prstGeom>
          <a:noFill/>
          <a:ln/>
        </p:spPr>
        <p:txBody>
          <a:bodyPr wrap="square" lIns="0" tIns="0" rIns="0" bIns="0" rtlCol="0" anchor="t"/>
          <a:lstStyle/>
          <a:p>
            <a:pPr marL="0" indent="0">
              <a:buNone/>
            </a:pPr>
            <a:r>
              <a:rPr lang="en-US" sz="2800" b="1" dirty="0">
                <a:solidFill>
                  <a:schemeClr val="accent6"/>
                </a:solidFill>
                <a:latin typeface="+mj-lt" pitchFamily="34" charset="0"/>
                <a:ea typeface="+mj-lt" pitchFamily="34" charset="-122"/>
                <a:cs typeface="+mj-lt" pitchFamily="34" charset="-120"/>
              </a:rPr>
              <a:t>~40%</a:t>
            </a:r>
            <a:endParaRPr lang="en-US" sz="2800" dirty="0"/>
          </a:p>
        </p:txBody>
      </p:sp>
      <p:sp>
        <p:nvSpPr>
          <p:cNvPr id="10" name="text-24"/>
          <p:cNvSpPr txBox="1"/>
          <p:nvPr/>
        </p:nvSpPr>
        <p:spPr>
          <a:xfrm>
            <a:off x="4494276" y="5669280"/>
            <a:ext cx="3200400" cy="640080"/>
          </a:xfrm>
          <a:prstGeom prst="rect">
            <a:avLst/>
          </a:prstGeom>
          <a:noFill/>
          <a:ln/>
        </p:spPr>
        <p:txBody>
          <a:bodyPr wrap="square" lIns="0" tIns="0" rIns="0" bIns="0" rtlCol="0" anchor="t"/>
          <a:lstStyle/>
          <a:p>
            <a:pPr marL="0" indent="0">
              <a:buNone/>
            </a:pPr>
            <a:r>
              <a:rPr lang="en-US" sz="1400" dirty="0">
                <a:solidFill>
                  <a:schemeClr val="tx1"/>
                </a:solidFill>
              </a:rPr>
              <a:t>đặt bom ngẫu nhiên là tự giết mình, nên khám phá ngẫu nhiên gần như là tự sát</a:t>
            </a:r>
            <a:endParaRPr lang="en-US" sz="1400" dirty="0"/>
          </a:p>
        </p:txBody>
      </p:sp>
      <p:sp>
        <p:nvSpPr>
          <p:cNvPr id="11" name="card-25"/>
          <p:cNvSpPr/>
          <p:nvPr/>
        </p:nvSpPr>
        <p:spPr>
          <a:xfrm>
            <a:off x="8074152" y="5120640"/>
            <a:ext cx="3566160" cy="1234440"/>
          </a:xfrm>
          <a:prstGeom prst="roundRect">
            <a:avLst>
              <a:gd name="adj" fmla="val 5926"/>
            </a:avLst>
          </a:prstGeom>
          <a:solidFill>
            <a:schemeClr val="bg2"/>
          </a:solidFill>
          <a:ln w="12700">
            <a:solidFill>
              <a:schemeClr val="bg2"/>
            </a:solidFill>
            <a:prstDash val="solid"/>
          </a:ln>
        </p:spPr>
      </p:sp>
      <p:sp>
        <p:nvSpPr>
          <p:cNvPr id="12" name="text-26"/>
          <p:cNvSpPr txBox="1"/>
          <p:nvPr/>
        </p:nvSpPr>
        <p:spPr>
          <a:xfrm>
            <a:off x="8257032" y="5212080"/>
            <a:ext cx="1371600" cy="457200"/>
          </a:xfrm>
          <a:prstGeom prst="rect">
            <a:avLst/>
          </a:prstGeom>
          <a:noFill/>
          <a:ln/>
        </p:spPr>
        <p:txBody>
          <a:bodyPr wrap="square" lIns="0" tIns="0" rIns="0" bIns="0" rtlCol="0" anchor="t"/>
          <a:lstStyle/>
          <a:p>
            <a:pPr marL="0" indent="0">
              <a:buNone/>
            </a:pPr>
            <a:r>
              <a:rPr lang="en-US" sz="2800" b="1" dirty="0">
                <a:solidFill>
                  <a:schemeClr val="accent4"/>
                </a:solidFill>
                <a:latin typeface="+mj-lt" pitchFamily="34" charset="0"/>
                <a:ea typeface="+mj-lt" pitchFamily="34" charset="-122"/>
                <a:cs typeface="+mj-lt" pitchFamily="34" charset="-120"/>
              </a:rPr>
              <a:t>~1.25</a:t>
            </a:r>
            <a:endParaRPr lang="en-US" sz="2800" dirty="0"/>
          </a:p>
        </p:txBody>
      </p:sp>
      <p:sp>
        <p:nvSpPr>
          <p:cNvPr id="13" name="text-27"/>
          <p:cNvSpPr txBox="1"/>
          <p:nvPr/>
        </p:nvSpPr>
        <p:spPr>
          <a:xfrm>
            <a:off x="8257032" y="5669280"/>
            <a:ext cx="3200400" cy="640080"/>
          </a:xfrm>
          <a:prstGeom prst="rect">
            <a:avLst/>
          </a:prstGeom>
          <a:noFill/>
          <a:ln/>
        </p:spPr>
        <p:txBody>
          <a:bodyPr wrap="square" lIns="0" tIns="0" rIns="0" bIns="0" rtlCol="0" anchor="t"/>
          <a:lstStyle/>
          <a:p>
            <a:pPr marL="0" indent="0">
              <a:buNone/>
            </a:pPr>
            <a:r>
              <a:rPr lang="en-US" sz="1400" dirty="0">
                <a:solidFill>
                  <a:schemeClr val="tx1"/>
                </a:solidFill>
              </a:rPr>
              <a:t>khoảnh khắc có nước giết trong một ván ~230 bước, phần còn lại gần như không mang tín hiệu</a:t>
            </a:r>
            <a:endParaRPr lang="en-US" sz="1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Problem: thắng chưa chắc là hạ gục</a:t>
            </a:r>
            <a:endParaRPr lang="en-US" sz="3000" dirty="0"/>
          </a:p>
        </p:txBody>
      </p:sp>
      <p:pic>
        <p:nvPicPr>
          <p:cNvPr id="3" name="img-28" descr="So sánh thay đổi win rate và ActiveWR của bốn can thiệp"/>
          <p:cNvPicPr>
            <a:picLocks noChangeAspect="1"/>
          </p:cNvPicPr>
          <p:nvPr/>
        </p:nvPicPr>
        <p:blipFill>
          <a:blip r:embed="rId3"/>
          <a:stretch>
            <a:fillRect/>
          </a:stretch>
        </p:blipFill>
        <p:spPr>
          <a:xfrm>
            <a:off x="548640" y="1325880"/>
            <a:ext cx="5943600" cy="3975366"/>
          </a:xfrm>
          <a:prstGeom prst="rect">
            <a:avLst/>
          </a:prstGeom>
        </p:spPr>
      </p:pic>
      <p:sp>
        <p:nvSpPr>
          <p:cNvPr id="4" name="text-29"/>
          <p:cNvSpPr txBox="1"/>
          <p:nvPr/>
        </p:nvSpPr>
        <p:spPr>
          <a:xfrm>
            <a:off x="548640" y="5392686"/>
            <a:ext cx="5943600" cy="777240"/>
          </a:xfrm>
          <a:prstGeom prst="rect">
            <a:avLst/>
          </a:prstGeom>
          <a:noFill/>
          <a:ln/>
        </p:spPr>
        <p:txBody>
          <a:bodyPr wrap="square" lIns="0" tIns="0" rIns="0" bIns="0" rtlCol="0" anchor="t"/>
          <a:lstStyle/>
          <a:p>
            <a:pPr marL="0" indent="0">
              <a:buNone/>
            </a:pPr>
            <a:r>
              <a:rPr lang="en-US" sz="1300" dirty="0">
                <a:solidFill>
                  <a:schemeClr val="tx1"/>
                </a:solidFill>
              </a:rPr>
              <a:t>Cùng các ván ghép cặp: WR tăng +10.75, +3.75, +16.0 nhưng ActiveWR chỉ +0.75, −1.75, +0.75. Phần tăng đến từ thắng thụ động hoặc thắng nhờ vòng co.</a:t>
            </a:r>
            <a:endParaRPr lang="en-US" sz="1300" dirty="0"/>
          </a:p>
        </p:txBody>
      </p:sp>
      <p:sp>
        <p:nvSpPr>
          <p:cNvPr id="5" name="card-30"/>
          <p:cNvSpPr/>
          <p:nvPr/>
        </p:nvSpPr>
        <p:spPr>
          <a:xfrm>
            <a:off x="6812280" y="1325880"/>
            <a:ext cx="4828032" cy="1371600"/>
          </a:xfrm>
          <a:prstGeom prst="roundRect">
            <a:avLst>
              <a:gd name="adj" fmla="val 5333"/>
            </a:avLst>
          </a:prstGeom>
          <a:solidFill>
            <a:schemeClr val="bg2"/>
          </a:solidFill>
          <a:ln w="12700">
            <a:solidFill>
              <a:schemeClr val="bg2"/>
            </a:solidFill>
            <a:prstDash val="solid"/>
          </a:ln>
        </p:spPr>
      </p:sp>
      <p:sp>
        <p:nvSpPr>
          <p:cNvPr id="6" name="text-31"/>
          <p:cNvSpPr txBox="1"/>
          <p:nvPr/>
        </p:nvSpPr>
        <p:spPr>
          <a:xfrm>
            <a:off x="7013448" y="1389888"/>
            <a:ext cx="1737360" cy="640080"/>
          </a:xfrm>
          <a:prstGeom prst="rect">
            <a:avLst/>
          </a:prstGeom>
          <a:noFill/>
          <a:ln/>
        </p:spPr>
        <p:txBody>
          <a:bodyPr wrap="square" lIns="0" tIns="0" rIns="0" bIns="0" rtlCol="0" anchor="t"/>
          <a:lstStyle/>
          <a:p>
            <a:pPr marL="0" indent="0">
              <a:buNone/>
            </a:pPr>
            <a:r>
              <a:rPr lang="en-US" sz="3800" b="1" dirty="0">
                <a:solidFill>
                  <a:schemeClr val="accent6"/>
                </a:solidFill>
                <a:latin typeface="+mj-lt" pitchFamily="34" charset="0"/>
                <a:ea typeface="+mj-lt" pitchFamily="34" charset="-122"/>
                <a:cs typeface="+mj-lt" pitchFamily="34" charset="-120"/>
              </a:rPr>
              <a:t>52.5%</a:t>
            </a:r>
            <a:endParaRPr lang="en-US" sz="3800" dirty="0"/>
          </a:p>
        </p:txBody>
      </p:sp>
      <p:sp>
        <p:nvSpPr>
          <p:cNvPr id="7" name="text-32"/>
          <p:cNvSpPr txBox="1"/>
          <p:nvPr/>
        </p:nvSpPr>
        <p:spPr>
          <a:xfrm>
            <a:off x="8778240" y="1481328"/>
            <a:ext cx="2679192" cy="1097280"/>
          </a:xfrm>
          <a:prstGeom prst="rect">
            <a:avLst/>
          </a:prstGeom>
          <a:noFill/>
          <a:ln/>
        </p:spPr>
        <p:txBody>
          <a:bodyPr wrap="square" lIns="0" tIns="0" rIns="0" bIns="0" rtlCol="0" anchor="t"/>
          <a:lstStyle/>
          <a:p>
            <a:pPr marL="0" indent="0">
              <a:buNone/>
            </a:pPr>
            <a:r>
              <a:rPr lang="en-US" sz="1400" dirty="0">
                <a:solidFill>
                  <a:schemeClr val="tx1"/>
                </a:solidFill>
              </a:rPr>
              <a:t>WR của một checkpoint FFA đã qua gate cũ, nhưng 0 lần hạ gục bằng bom của mình trong 40 trận</a:t>
            </a:r>
            <a:endParaRPr lang="en-US" sz="1400" dirty="0"/>
          </a:p>
        </p:txBody>
      </p:sp>
      <p:sp>
        <p:nvSpPr>
          <p:cNvPr id="8" name="card-33"/>
          <p:cNvSpPr/>
          <p:nvPr/>
        </p:nvSpPr>
        <p:spPr>
          <a:xfrm>
            <a:off x="6812280" y="2880360"/>
            <a:ext cx="4828032" cy="3474720"/>
          </a:xfrm>
          <a:prstGeom prst="roundRect">
            <a:avLst>
              <a:gd name="adj" fmla="val 2105"/>
            </a:avLst>
          </a:prstGeom>
          <a:solidFill>
            <a:schemeClr val="bg2"/>
          </a:solidFill>
          <a:ln w="12700">
            <a:solidFill>
              <a:schemeClr val="bg2"/>
            </a:solidFill>
            <a:prstDash val="solid"/>
          </a:ln>
        </p:spPr>
      </p:sp>
      <p:pic>
        <p:nvPicPr>
          <p:cNvPr id="9" name="formula-34" descr="Công thức A1"/>
          <p:cNvPicPr>
            <a:picLocks noChangeAspect="1"/>
          </p:cNvPicPr>
          <p:nvPr/>
        </p:nvPicPr>
        <p:blipFill>
          <a:blip r:embed="rId4"/>
          <a:stretch>
            <a:fillRect/>
          </a:stretch>
        </p:blipFill>
        <p:spPr>
          <a:xfrm>
            <a:off x="7013448" y="3081528"/>
            <a:ext cx="3688598" cy="383957"/>
          </a:xfrm>
          <a:prstGeom prst="rect">
            <a:avLst/>
          </a:prstGeom>
        </p:spPr>
      </p:pic>
      <p:sp>
        <p:nvSpPr>
          <p:cNvPr id="10" name="text-35"/>
          <p:cNvSpPr txBox="1"/>
          <p:nvPr/>
        </p:nvSpPr>
        <p:spPr>
          <a:xfrm>
            <a:off x="7013448" y="3593501"/>
            <a:ext cx="4425696" cy="2651851"/>
          </a:xfrm>
          <a:prstGeom prst="rect">
            <a:avLst/>
          </a:prstGeom>
          <a:noFill/>
          <a:ln/>
        </p:spPr>
        <p:txBody>
          <a:bodyPr wrap="square" lIns="0" tIns="0" rIns="0" bIns="0" rtlCol="0" anchor="t"/>
          <a:lstStyle/>
          <a:p>
            <a:pPr marL="0" indent="0">
              <a:spcAft>
                <a:spcPts val="400"/>
              </a:spcAft>
              <a:buNone/>
            </a:pPr>
            <a:r>
              <a:rPr lang="en-US" sz="1500" b="1" dirty="0">
                <a:solidFill>
                  <a:schemeClr val="accent4"/>
                </a:solidFill>
              </a:rPr>
              <a:t>Tác dụng: </a:t>
            </a:r>
            <a:r>
              <a:rPr lang="en-US" sz="1500" dirty="0">
                <a:solidFill>
                  <a:schemeClr val="tx1"/>
                </a:solidFill>
              </a:rPr>
              <a:t>đo xác suất thắng và hạ gục ít nhất một đối thủ bằng bom của chính mình. W: learner sống cuối; K: một đối thủ chết bởi bom do learner đặt (kể cả nổ dây chuyền).</a:t>
            </a:r>
            <a:endParaRPr lang="en-US" sz="1500" dirty="0"/>
          </a:p>
          <a:p>
            <a:pPr marL="0" indent="0">
              <a:spcAft>
                <a:spcPts val="400"/>
              </a:spcAft>
              <a:buNone/>
            </a:pPr>
            <a:r>
              <a:rPr lang="en-US" sz="1500" b="1" dirty="0">
                <a:solidFill>
                  <a:schemeClr val="accent4"/>
                </a:solidFill>
              </a:rPr>
              <a:t>Lý do: </a:t>
            </a:r>
            <a:r>
              <a:rPr lang="en-US" sz="1500" dirty="0">
                <a:solidFill>
                  <a:schemeClr val="tx1"/>
                </a:solidFill>
              </a:rPr>
              <a:t>WR bị thổi phồng khi đối thủ tự nổ hoặc bị vòng co giết. Thước đo phải thưởng đúng thứ ta muốn học: kill chủ động.</a:t>
            </a:r>
            <a:endParaRPr lang="en-US" sz="15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Research gap: bốn khoảng trống công trình trước để lại</a:t>
            </a:r>
            <a:endParaRPr lang="en-US" sz="3000" dirty="0"/>
          </a:p>
        </p:txBody>
      </p:sp>
      <p:sp>
        <p:nvSpPr>
          <p:cNvPr id="3" name="card-36"/>
          <p:cNvSpPr/>
          <p:nvPr/>
        </p:nvSpPr>
        <p:spPr>
          <a:xfrm>
            <a:off x="548640" y="1325880"/>
            <a:ext cx="5440680" cy="2194560"/>
          </a:xfrm>
          <a:prstGeom prst="roundRect">
            <a:avLst>
              <a:gd name="adj" fmla="val 3333"/>
            </a:avLst>
          </a:prstGeom>
          <a:solidFill>
            <a:schemeClr val="bg2"/>
          </a:solidFill>
          <a:ln w="12700">
            <a:solidFill>
              <a:schemeClr val="bg2"/>
            </a:solidFill>
            <a:prstDash val="solid"/>
          </a:ln>
        </p:spPr>
      </p:sp>
      <p:sp>
        <p:nvSpPr>
          <p:cNvPr id="4" name="badge-37"/>
          <p:cNvSpPr/>
          <p:nvPr/>
        </p:nvSpPr>
        <p:spPr>
          <a:xfrm>
            <a:off x="777240" y="1554480"/>
            <a:ext cx="566928" cy="566928"/>
          </a:xfrm>
          <a:prstGeom prst="ellipse">
            <a:avLst/>
          </a:prstGeom>
          <a:solidFill>
            <a:schemeClr val="accent4"/>
          </a:solidFill>
          <a:ln w="12700">
            <a:solidFill>
              <a:schemeClr val="accent4"/>
            </a:solidFill>
            <a:prstDash val="solid"/>
          </a:ln>
        </p:spPr>
      </p:sp>
      <p:sp>
        <p:nvSpPr>
          <p:cNvPr id="5" name="badge-text-38"/>
          <p:cNvSpPr txBox="1"/>
          <p:nvPr/>
        </p:nvSpPr>
        <p:spPr>
          <a:xfrm>
            <a:off x="777240" y="1554480"/>
            <a:ext cx="566928" cy="566928"/>
          </a:xfrm>
          <a:prstGeom prst="rect">
            <a:avLst/>
          </a:prstGeom>
          <a:noFill/>
          <a:ln/>
        </p:spPr>
        <p:txBody>
          <a:bodyPr wrap="square" lIns="0" tIns="0" rIns="0" bIns="0" rtlCol="0" anchor="ctr"/>
          <a:lstStyle/>
          <a:p>
            <a:pPr marL="0" indent="0" algn="ctr">
              <a:buNone/>
            </a:pPr>
            <a:r>
              <a:rPr lang="en-US" sz="1600" b="1" dirty="0">
                <a:solidFill>
                  <a:schemeClr val="bg1"/>
                </a:solidFill>
              </a:rPr>
              <a:t>G1</a:t>
            </a:r>
            <a:endParaRPr lang="en-US" sz="1600" dirty="0"/>
          </a:p>
        </p:txBody>
      </p:sp>
      <p:sp>
        <p:nvSpPr>
          <p:cNvPr id="6" name="text-39"/>
          <p:cNvSpPr txBox="1"/>
          <p:nvPr/>
        </p:nvSpPr>
        <p:spPr>
          <a:xfrm>
            <a:off x="1508760" y="1554480"/>
            <a:ext cx="4251960" cy="566928"/>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Chưa có thước đo tách thắng thụ động</a:t>
            </a:r>
            <a:endParaRPr lang="en-US" sz="1800" dirty="0"/>
          </a:p>
        </p:txBody>
      </p:sp>
      <p:sp>
        <p:nvSpPr>
          <p:cNvPr id="7" name="text-40"/>
          <p:cNvSpPr txBox="1"/>
          <p:nvPr/>
        </p:nvSpPr>
        <p:spPr>
          <a:xfrm>
            <a:off x="777240" y="2240280"/>
            <a:ext cx="4983480" cy="777240"/>
          </a:xfrm>
          <a:prstGeom prst="rect">
            <a:avLst/>
          </a:prstGeom>
          <a:noFill/>
          <a:ln/>
        </p:spPr>
        <p:txBody>
          <a:bodyPr wrap="square" lIns="0" tIns="0" rIns="0" bIns="0" rtlCol="0" anchor="t"/>
          <a:lstStyle/>
          <a:p>
            <a:pPr marL="0" indent="0">
              <a:buNone/>
            </a:pPr>
            <a:r>
              <a:rPr lang="en-US" sz="1400" dirty="0">
                <a:solidFill>
                  <a:schemeClr val="tx1"/>
                </a:solidFill>
              </a:rPr>
              <a:t>Skynet, Kartal, Huynh, Weil đều thấy đối thủ tự nổ làm WR sai, nhưng vẫn báo WR hoặc điểm giải đấu.</a:t>
            </a:r>
            <a:endParaRPr lang="en-US" sz="1400" dirty="0"/>
          </a:p>
        </p:txBody>
      </p:sp>
      <p:sp>
        <p:nvSpPr>
          <p:cNvPr id="8" name="text-41"/>
          <p:cNvSpPr txBox="1"/>
          <p:nvPr/>
        </p:nvSpPr>
        <p:spPr>
          <a:xfrm>
            <a:off x="777240" y="3081528"/>
            <a:ext cx="4983480" cy="320040"/>
          </a:xfrm>
          <a:prstGeom prst="rect">
            <a:avLst/>
          </a:prstGeom>
          <a:noFill/>
          <a:ln/>
        </p:spPr>
        <p:txBody>
          <a:bodyPr wrap="square" lIns="0" tIns="0" rIns="0" bIns="0" rtlCol="0" anchor="t"/>
          <a:lstStyle/>
          <a:p>
            <a:pPr marL="0" indent="0">
              <a:buNone/>
            </a:pPr>
            <a:r>
              <a:rPr lang="en-US" sz="1300" b="1" dirty="0">
                <a:solidFill>
                  <a:schemeClr val="accent6"/>
                </a:solidFill>
              </a:rPr>
              <a:t>Lấp bởi C1: ActiveWR và giao thức đánh giá</a:t>
            </a:r>
            <a:endParaRPr lang="en-US" sz="1300" dirty="0"/>
          </a:p>
        </p:txBody>
      </p:sp>
      <p:sp>
        <p:nvSpPr>
          <p:cNvPr id="9" name="card-42"/>
          <p:cNvSpPr/>
          <p:nvPr/>
        </p:nvSpPr>
        <p:spPr>
          <a:xfrm>
            <a:off x="6199632" y="1325880"/>
            <a:ext cx="5440680" cy="2194560"/>
          </a:xfrm>
          <a:prstGeom prst="roundRect">
            <a:avLst>
              <a:gd name="adj" fmla="val 3333"/>
            </a:avLst>
          </a:prstGeom>
          <a:solidFill>
            <a:schemeClr val="bg2"/>
          </a:solidFill>
          <a:ln w="12700">
            <a:solidFill>
              <a:schemeClr val="bg2"/>
            </a:solidFill>
            <a:prstDash val="solid"/>
          </a:ln>
        </p:spPr>
      </p:sp>
      <p:sp>
        <p:nvSpPr>
          <p:cNvPr id="10" name="badge-43"/>
          <p:cNvSpPr/>
          <p:nvPr/>
        </p:nvSpPr>
        <p:spPr>
          <a:xfrm>
            <a:off x="6428232" y="1554480"/>
            <a:ext cx="566928" cy="566928"/>
          </a:xfrm>
          <a:prstGeom prst="ellipse">
            <a:avLst/>
          </a:prstGeom>
          <a:solidFill>
            <a:schemeClr val="accent4"/>
          </a:solidFill>
          <a:ln w="12700">
            <a:solidFill>
              <a:schemeClr val="accent4"/>
            </a:solidFill>
            <a:prstDash val="solid"/>
          </a:ln>
        </p:spPr>
      </p:sp>
      <p:sp>
        <p:nvSpPr>
          <p:cNvPr id="11" name="badge-text-44"/>
          <p:cNvSpPr txBox="1"/>
          <p:nvPr/>
        </p:nvSpPr>
        <p:spPr>
          <a:xfrm>
            <a:off x="6428232" y="1554480"/>
            <a:ext cx="566928" cy="566928"/>
          </a:xfrm>
          <a:prstGeom prst="rect">
            <a:avLst/>
          </a:prstGeom>
          <a:noFill/>
          <a:ln/>
        </p:spPr>
        <p:txBody>
          <a:bodyPr wrap="square" lIns="0" tIns="0" rIns="0" bIns="0" rtlCol="0" anchor="ctr"/>
          <a:lstStyle/>
          <a:p>
            <a:pPr marL="0" indent="0" algn="ctr">
              <a:buNone/>
            </a:pPr>
            <a:r>
              <a:rPr lang="en-US" sz="1600" b="1" dirty="0">
                <a:solidFill>
                  <a:schemeClr val="bg1"/>
                </a:solidFill>
              </a:rPr>
              <a:t>G2</a:t>
            </a:r>
            <a:endParaRPr lang="en-US" sz="1600" dirty="0"/>
          </a:p>
        </p:txBody>
      </p:sp>
      <p:sp>
        <p:nvSpPr>
          <p:cNvPr id="12" name="text-45"/>
          <p:cNvSpPr txBox="1"/>
          <p:nvPr/>
        </p:nvSpPr>
        <p:spPr>
          <a:xfrm>
            <a:off x="7159752" y="1554480"/>
            <a:ext cx="4251960" cy="566928"/>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RL thuần yếu, search mạnh nhưng chậm</a:t>
            </a:r>
            <a:endParaRPr lang="en-US" sz="1800" dirty="0"/>
          </a:p>
        </p:txBody>
      </p:sp>
      <p:sp>
        <p:nvSpPr>
          <p:cNvPr id="13" name="text-46"/>
          <p:cNvSpPr txBox="1"/>
          <p:nvPr/>
        </p:nvSpPr>
        <p:spPr>
          <a:xfrm>
            <a:off x="6428232" y="2240280"/>
            <a:ext cx="4983480" cy="777240"/>
          </a:xfrm>
          <a:prstGeom prst="rect">
            <a:avLst/>
          </a:prstGeom>
          <a:noFill/>
          <a:ln/>
        </p:spPr>
        <p:txBody>
          <a:bodyPr wrap="square" lIns="0" tIns="0" rIns="0" bIns="0" rtlCol="0" anchor="t"/>
          <a:lstStyle/>
          <a:p>
            <a:pPr marL="0" indent="0">
              <a:buNone/>
            </a:pPr>
            <a:r>
              <a:rPr lang="en-US" sz="1400" dirty="0">
                <a:solidFill>
                  <a:schemeClr val="tx1"/>
                </a:solidFill>
              </a:rPr>
              <a:t>PPO cần ~200M bước mà vẫn thua search 70–95%. Search sâu 1 thắng RL 87.1% (Osogami). Chưa có cách đưa search vào một CNN nhanh.</a:t>
            </a:r>
            <a:endParaRPr lang="en-US" sz="1400" dirty="0"/>
          </a:p>
        </p:txBody>
      </p:sp>
      <p:sp>
        <p:nvSpPr>
          <p:cNvPr id="14" name="text-47"/>
          <p:cNvSpPr txBox="1"/>
          <p:nvPr/>
        </p:nvSpPr>
        <p:spPr>
          <a:xfrm>
            <a:off x="6428232" y="3081528"/>
            <a:ext cx="4983480" cy="320040"/>
          </a:xfrm>
          <a:prstGeom prst="rect">
            <a:avLst/>
          </a:prstGeom>
          <a:noFill/>
          <a:ln/>
        </p:spPr>
        <p:txBody>
          <a:bodyPr wrap="square" lIns="0" tIns="0" rIns="0" bIns="0" rtlCol="0" anchor="t"/>
          <a:lstStyle/>
          <a:p>
            <a:pPr marL="0" indent="0">
              <a:buNone/>
            </a:pPr>
            <a:r>
              <a:rPr lang="en-US" sz="1300" b="1" dirty="0">
                <a:solidFill>
                  <a:schemeClr val="accent6"/>
                </a:solidFill>
              </a:rPr>
              <a:t>Lấp bởi C2, C3: chưng cất và expert iteration</a:t>
            </a:r>
            <a:endParaRPr lang="en-US" sz="1300" dirty="0"/>
          </a:p>
        </p:txBody>
      </p:sp>
      <p:sp>
        <p:nvSpPr>
          <p:cNvPr id="15" name="card-48"/>
          <p:cNvSpPr/>
          <p:nvPr/>
        </p:nvSpPr>
        <p:spPr>
          <a:xfrm>
            <a:off x="548640" y="3657600"/>
            <a:ext cx="5440680" cy="2194560"/>
          </a:xfrm>
          <a:prstGeom prst="roundRect">
            <a:avLst>
              <a:gd name="adj" fmla="val 3333"/>
            </a:avLst>
          </a:prstGeom>
          <a:solidFill>
            <a:schemeClr val="bg2"/>
          </a:solidFill>
          <a:ln w="12700">
            <a:solidFill>
              <a:schemeClr val="bg2"/>
            </a:solidFill>
            <a:prstDash val="solid"/>
          </a:ln>
        </p:spPr>
      </p:sp>
      <p:sp>
        <p:nvSpPr>
          <p:cNvPr id="16" name="badge-49"/>
          <p:cNvSpPr/>
          <p:nvPr/>
        </p:nvSpPr>
        <p:spPr>
          <a:xfrm>
            <a:off x="777240" y="3886200"/>
            <a:ext cx="566928" cy="566928"/>
          </a:xfrm>
          <a:prstGeom prst="ellipse">
            <a:avLst/>
          </a:prstGeom>
          <a:solidFill>
            <a:schemeClr val="accent4"/>
          </a:solidFill>
          <a:ln w="12700">
            <a:solidFill>
              <a:schemeClr val="accent4"/>
            </a:solidFill>
            <a:prstDash val="solid"/>
          </a:ln>
        </p:spPr>
      </p:sp>
      <p:sp>
        <p:nvSpPr>
          <p:cNvPr id="17" name="badge-text-50"/>
          <p:cNvSpPr txBox="1"/>
          <p:nvPr/>
        </p:nvSpPr>
        <p:spPr>
          <a:xfrm>
            <a:off x="777240" y="3886200"/>
            <a:ext cx="566928" cy="566928"/>
          </a:xfrm>
          <a:prstGeom prst="rect">
            <a:avLst/>
          </a:prstGeom>
          <a:noFill/>
          <a:ln/>
        </p:spPr>
        <p:txBody>
          <a:bodyPr wrap="square" lIns="0" tIns="0" rIns="0" bIns="0" rtlCol="0" anchor="ctr"/>
          <a:lstStyle/>
          <a:p>
            <a:pPr marL="0" indent="0" algn="ctr">
              <a:buNone/>
            </a:pPr>
            <a:r>
              <a:rPr lang="en-US" sz="1600" b="1" dirty="0">
                <a:solidFill>
                  <a:schemeClr val="bg1"/>
                </a:solidFill>
              </a:rPr>
              <a:t>G3</a:t>
            </a:r>
            <a:endParaRPr lang="en-US" sz="1600" dirty="0"/>
          </a:p>
        </p:txBody>
      </p:sp>
      <p:sp>
        <p:nvSpPr>
          <p:cNvPr id="18" name="text-51"/>
          <p:cNvSpPr txBox="1"/>
          <p:nvPr/>
        </p:nvSpPr>
        <p:spPr>
          <a:xfrm>
            <a:off x="1508760" y="3886200"/>
            <a:ext cx="4251960" cy="566928"/>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Hai hướng của Kartal chưa được thử</a:t>
            </a:r>
            <a:endParaRPr lang="en-US" sz="1800" dirty="0"/>
          </a:p>
        </p:txBody>
      </p:sp>
      <p:sp>
        <p:nvSpPr>
          <p:cNvPr id="19" name="text-52"/>
          <p:cNvSpPr txBox="1"/>
          <p:nvPr/>
        </p:nvSpPr>
        <p:spPr>
          <a:xfrm>
            <a:off x="777240" y="4572000"/>
            <a:ext cx="4983480" cy="777240"/>
          </a:xfrm>
          <a:prstGeom prst="rect">
            <a:avLst/>
          </a:prstGeom>
          <a:noFill/>
          <a:ln/>
        </p:spPr>
        <p:txBody>
          <a:bodyPr wrap="square" lIns="0" tIns="0" rIns="0" bIns="0" rtlCol="0" anchor="t"/>
          <a:lstStyle/>
          <a:p>
            <a:pPr marL="0" indent="0">
              <a:buNone/>
            </a:pPr>
            <a:r>
              <a:rPr lang="en-US" sz="1400" dirty="0">
                <a:solidFill>
                  <a:schemeClr val="tx1"/>
                </a:solidFill>
              </a:rPr>
              <a:t>Chỉ gọi demonstrator ở trạng thái liên quan, và lưu hành động của nó vào buffer. Công trình gốc dừng ở bàn 8×8, đo tốc độ học.</a:t>
            </a:r>
            <a:endParaRPr lang="en-US" sz="1400" dirty="0"/>
          </a:p>
        </p:txBody>
      </p:sp>
      <p:sp>
        <p:nvSpPr>
          <p:cNvPr id="20" name="text-53"/>
          <p:cNvSpPr txBox="1"/>
          <p:nvPr/>
        </p:nvSpPr>
        <p:spPr>
          <a:xfrm>
            <a:off x="777240" y="5413248"/>
            <a:ext cx="4983480" cy="320040"/>
          </a:xfrm>
          <a:prstGeom prst="rect">
            <a:avLst/>
          </a:prstGeom>
          <a:noFill/>
          <a:ln/>
        </p:spPr>
        <p:txBody>
          <a:bodyPr wrap="square" lIns="0" tIns="0" rIns="0" bIns="0" rtlCol="0" anchor="t"/>
          <a:lstStyle/>
          <a:p>
            <a:pPr marL="0" indent="0">
              <a:buNone/>
            </a:pPr>
            <a:r>
              <a:rPr lang="en-US" sz="1300" b="1" dirty="0">
                <a:solidFill>
                  <a:schemeClr val="accent6"/>
                </a:solidFill>
              </a:rPr>
              <a:t>Lấp bởi C2: so ba cách dùng cùng một search</a:t>
            </a:r>
            <a:endParaRPr lang="en-US" sz="1300" dirty="0"/>
          </a:p>
        </p:txBody>
      </p:sp>
      <p:sp>
        <p:nvSpPr>
          <p:cNvPr id="21" name="card-54"/>
          <p:cNvSpPr/>
          <p:nvPr/>
        </p:nvSpPr>
        <p:spPr>
          <a:xfrm>
            <a:off x="6199632" y="3657600"/>
            <a:ext cx="5440680" cy="2194560"/>
          </a:xfrm>
          <a:prstGeom prst="roundRect">
            <a:avLst>
              <a:gd name="adj" fmla="val 3333"/>
            </a:avLst>
          </a:prstGeom>
          <a:solidFill>
            <a:schemeClr val="bg2"/>
          </a:solidFill>
          <a:ln w="12700">
            <a:solidFill>
              <a:schemeClr val="bg2"/>
            </a:solidFill>
            <a:prstDash val="solid"/>
          </a:ln>
        </p:spPr>
      </p:sp>
      <p:sp>
        <p:nvSpPr>
          <p:cNvPr id="22" name="badge-55"/>
          <p:cNvSpPr/>
          <p:nvPr/>
        </p:nvSpPr>
        <p:spPr>
          <a:xfrm>
            <a:off x="6428232" y="3886200"/>
            <a:ext cx="566928" cy="566928"/>
          </a:xfrm>
          <a:prstGeom prst="ellipse">
            <a:avLst/>
          </a:prstGeom>
          <a:solidFill>
            <a:schemeClr val="accent4"/>
          </a:solidFill>
          <a:ln w="12700">
            <a:solidFill>
              <a:schemeClr val="accent4"/>
            </a:solidFill>
            <a:prstDash val="solid"/>
          </a:ln>
        </p:spPr>
      </p:sp>
      <p:sp>
        <p:nvSpPr>
          <p:cNvPr id="23" name="badge-text-56"/>
          <p:cNvSpPr txBox="1"/>
          <p:nvPr/>
        </p:nvSpPr>
        <p:spPr>
          <a:xfrm>
            <a:off x="6428232" y="3886200"/>
            <a:ext cx="566928" cy="566928"/>
          </a:xfrm>
          <a:prstGeom prst="rect">
            <a:avLst/>
          </a:prstGeom>
          <a:noFill/>
          <a:ln/>
        </p:spPr>
        <p:txBody>
          <a:bodyPr wrap="square" lIns="0" tIns="0" rIns="0" bIns="0" rtlCol="0" anchor="ctr"/>
          <a:lstStyle/>
          <a:p>
            <a:pPr marL="0" indent="0" algn="ctr">
              <a:buNone/>
            </a:pPr>
            <a:r>
              <a:rPr lang="en-US" sz="1600" b="1" dirty="0">
                <a:solidFill>
                  <a:schemeClr val="bg1"/>
                </a:solidFill>
              </a:rPr>
              <a:t>G4</a:t>
            </a:r>
            <a:endParaRPr lang="en-US" sz="1600" dirty="0"/>
          </a:p>
        </p:txBody>
      </p:sp>
      <p:sp>
        <p:nvSpPr>
          <p:cNvPr id="24" name="text-57"/>
          <p:cNvSpPr txBox="1"/>
          <p:nvPr/>
        </p:nvSpPr>
        <p:spPr>
          <a:xfrm>
            <a:off x="7159752" y="3886200"/>
            <a:ext cx="4251960" cy="566928"/>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Chưa ai phân tích hòa giữa agent mạnh</a:t>
            </a:r>
            <a:endParaRPr lang="en-US" sz="1800" dirty="0"/>
          </a:p>
        </p:txBody>
      </p:sp>
      <p:sp>
        <p:nvSpPr>
          <p:cNvPr id="25" name="text-58"/>
          <p:cNvSpPr txBox="1"/>
          <p:nvPr/>
        </p:nvSpPr>
        <p:spPr>
          <a:xfrm>
            <a:off x="6428232" y="4572000"/>
            <a:ext cx="4983480" cy="777240"/>
          </a:xfrm>
          <a:prstGeom prst="rect">
            <a:avLst/>
          </a:prstGeom>
          <a:noFill/>
          <a:ln/>
        </p:spPr>
        <p:txBody>
          <a:bodyPr wrap="square" lIns="0" tIns="0" rIns="0" bIns="0" rtlCol="0" anchor="t"/>
          <a:lstStyle/>
          <a:p>
            <a:pPr marL="0" indent="0">
              <a:buNone/>
            </a:pPr>
            <a:r>
              <a:rPr lang="en-US" sz="1400" dirty="0">
                <a:solidFill>
                  <a:schemeClr val="tx1"/>
                </a:solidFill>
              </a:rPr>
              <a:t>Hòa 59–89% giữa agent mạnh được báo cáo, nhưng chưa tách: do bỏ lỡ nước giết hay do luật chơi.</a:t>
            </a:r>
            <a:endParaRPr lang="en-US" sz="1400" dirty="0"/>
          </a:p>
        </p:txBody>
      </p:sp>
      <p:sp>
        <p:nvSpPr>
          <p:cNvPr id="26" name="text-59"/>
          <p:cNvSpPr txBox="1"/>
          <p:nvPr/>
        </p:nvSpPr>
        <p:spPr>
          <a:xfrm>
            <a:off x="6428232" y="5413248"/>
            <a:ext cx="4983480" cy="320040"/>
          </a:xfrm>
          <a:prstGeom prst="rect">
            <a:avLst/>
          </a:prstGeom>
          <a:noFill/>
          <a:ln/>
        </p:spPr>
        <p:txBody>
          <a:bodyPr wrap="square" lIns="0" tIns="0" rIns="0" bIns="0" rtlCol="0" anchor="t"/>
          <a:lstStyle/>
          <a:p>
            <a:pPr marL="0" indent="0">
              <a:buNone/>
            </a:pPr>
            <a:r>
              <a:rPr lang="en-US" sz="1300" b="1" dirty="0">
                <a:solidFill>
                  <a:schemeClr val="accent6"/>
                </a:solidFill>
              </a:rPr>
              <a:t>Lấp bởi C5: dò kế hoạch giết trong trận hòa</a:t>
            </a:r>
            <a:endParaRPr lang="en-US" sz="1300" dirty="0"/>
          </a:p>
        </p:txBody>
      </p:sp>
      <p:sp>
        <p:nvSpPr>
          <p:cNvPr id="27" name="text-60"/>
          <p:cNvSpPr txBox="1"/>
          <p:nvPr/>
        </p:nvSpPr>
        <p:spPr>
          <a:xfrm>
            <a:off x="548640" y="5989320"/>
            <a:ext cx="11091672" cy="365760"/>
          </a:xfrm>
          <a:prstGeom prst="rect">
            <a:avLst/>
          </a:prstGeom>
          <a:noFill/>
          <a:ln/>
        </p:spPr>
        <p:txBody>
          <a:bodyPr wrap="square" lIns="0" tIns="0" rIns="0" bIns="0" rtlCol="0" anchor="t"/>
          <a:lstStyle/>
          <a:p>
            <a:pPr marL="0" indent="0">
              <a:buNone/>
            </a:pPr>
            <a:r>
              <a:rPr lang="en-US" sz="1200" dirty="0">
                <a:solidFill>
                  <a:schemeClr val="accent5"/>
                </a:solidFill>
              </a:rPr>
              <a:t>Gần nhất: Kartal 2018–19 (MCTS demonstrator, 8×8) · Osogami 2019 (search sâu 1) · Weil 2023 (MCTS + model học) · Huynh 2024 (PPO 200M bước)</a:t>
            </a:r>
            <a:endParaRPr lang="en-US" sz="1200" dirty="0"/>
          </a:p>
        </p:txBody>
      </p:sp>
      <p:sp>
        <p:nvSpPr>
          <p:cNvPr id="28"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Solution: một search viết tay, chưng cất thành CNN</a:t>
            </a:r>
            <a:endParaRPr lang="en-US" sz="3000" dirty="0"/>
          </a:p>
        </p:txBody>
      </p:sp>
      <p:pic>
        <p:nvPicPr>
          <p:cNvPr id="3" name="img-61" descr="Sơ đồ: RL tạo B, F, G; kill-search lúc chơi cho G+s1, s2, s3; chưng cất tạo S, S2, S3"/>
          <p:cNvPicPr>
            <a:picLocks noChangeAspect="1"/>
          </p:cNvPicPr>
          <p:nvPr/>
        </p:nvPicPr>
        <p:blipFill>
          <a:blip r:embed="rId3"/>
          <a:stretch>
            <a:fillRect/>
          </a:stretch>
        </p:blipFill>
        <p:spPr>
          <a:xfrm>
            <a:off x="1295248" y="1280160"/>
            <a:ext cx="9601200" cy="4019418"/>
          </a:xfrm>
          <a:prstGeom prst="rect">
            <a:avLst/>
          </a:prstGeom>
        </p:spPr>
      </p:pic>
      <p:sp>
        <p:nvSpPr>
          <p:cNvPr id="4" name="card-62"/>
          <p:cNvSpPr/>
          <p:nvPr/>
        </p:nvSpPr>
        <p:spPr>
          <a:xfrm>
            <a:off x="548640" y="5464170"/>
            <a:ext cx="2103120" cy="868680"/>
          </a:xfrm>
          <a:prstGeom prst="roundRect">
            <a:avLst>
              <a:gd name="adj" fmla="val 8421"/>
            </a:avLst>
          </a:prstGeom>
          <a:solidFill>
            <a:schemeClr val="bg2"/>
          </a:solidFill>
          <a:ln w="12700">
            <a:solidFill>
              <a:schemeClr val="bg2"/>
            </a:solidFill>
            <a:prstDash val="solid"/>
          </a:ln>
        </p:spPr>
      </p:sp>
      <p:sp>
        <p:nvSpPr>
          <p:cNvPr id="5" name="text-63"/>
          <p:cNvSpPr txBox="1"/>
          <p:nvPr/>
        </p:nvSpPr>
        <p:spPr>
          <a:xfrm>
            <a:off x="685800" y="5555610"/>
            <a:ext cx="1828800" cy="731520"/>
          </a:xfrm>
          <a:prstGeom prst="rect">
            <a:avLst/>
          </a:prstGeom>
          <a:noFill/>
          <a:ln/>
        </p:spPr>
        <p:txBody>
          <a:bodyPr wrap="square" lIns="0" tIns="0" rIns="0" bIns="0" rtlCol="0" anchor="t"/>
          <a:lstStyle/>
          <a:p>
            <a:pPr marL="0" indent="0">
              <a:buNone/>
            </a:pPr>
            <a:r>
              <a:rPr lang="en-US" sz="1200" b="1" dirty="0">
                <a:solidFill>
                  <a:schemeClr val="accent4"/>
                </a:solidFill>
              </a:rPr>
              <a:t>C1  </a:t>
            </a:r>
            <a:r>
              <a:rPr lang="en-US" sz="1200" dirty="0">
                <a:solidFill>
                  <a:schemeClr val="tx1"/>
                </a:solidFill>
              </a:rPr>
              <a:t>ActiveWR và giao thức đánh giá</a:t>
            </a:r>
            <a:endParaRPr lang="en-US" sz="1200" dirty="0"/>
          </a:p>
          <a:p>
            <a:pPr marL="0" indent="0">
              <a:buNone/>
            </a:pPr>
            <a:r>
              <a:rPr lang="en-US" sz="1200" b="1" dirty="0">
                <a:solidFill>
                  <a:schemeClr val="accent6"/>
                </a:solidFill>
              </a:rPr>
              <a:t>lấp G1</a:t>
            </a:r>
            <a:endParaRPr lang="en-US" sz="1200" dirty="0"/>
          </a:p>
        </p:txBody>
      </p:sp>
      <p:sp>
        <p:nvSpPr>
          <p:cNvPr id="6" name="card-64"/>
          <p:cNvSpPr/>
          <p:nvPr/>
        </p:nvSpPr>
        <p:spPr>
          <a:xfrm>
            <a:off x="2784348" y="5464170"/>
            <a:ext cx="2103120" cy="868680"/>
          </a:xfrm>
          <a:prstGeom prst="roundRect">
            <a:avLst>
              <a:gd name="adj" fmla="val 8421"/>
            </a:avLst>
          </a:prstGeom>
          <a:solidFill>
            <a:schemeClr val="bg2"/>
          </a:solidFill>
          <a:ln w="12700">
            <a:solidFill>
              <a:schemeClr val="bg2"/>
            </a:solidFill>
            <a:prstDash val="solid"/>
          </a:ln>
        </p:spPr>
      </p:sp>
      <p:sp>
        <p:nvSpPr>
          <p:cNvPr id="7" name="text-65"/>
          <p:cNvSpPr txBox="1"/>
          <p:nvPr/>
        </p:nvSpPr>
        <p:spPr>
          <a:xfrm>
            <a:off x="2921508" y="5555610"/>
            <a:ext cx="1828800" cy="731520"/>
          </a:xfrm>
          <a:prstGeom prst="rect">
            <a:avLst/>
          </a:prstGeom>
          <a:noFill/>
          <a:ln/>
        </p:spPr>
        <p:txBody>
          <a:bodyPr wrap="square" lIns="0" tIns="0" rIns="0" bIns="0" rtlCol="0" anchor="t"/>
          <a:lstStyle/>
          <a:p>
            <a:pPr marL="0" indent="0">
              <a:buNone/>
            </a:pPr>
            <a:r>
              <a:rPr lang="en-US" sz="1200" b="1" dirty="0">
                <a:solidFill>
                  <a:schemeClr val="accent4"/>
                </a:solidFill>
              </a:rPr>
              <a:t>C2  </a:t>
            </a:r>
            <a:r>
              <a:rPr lang="en-US" sz="1200" dirty="0">
                <a:solidFill>
                  <a:schemeClr val="tx1"/>
                </a:solidFill>
              </a:rPr>
              <a:t>Ba cách dùng một search</a:t>
            </a:r>
            <a:endParaRPr lang="en-US" sz="1200" dirty="0"/>
          </a:p>
          <a:p>
            <a:pPr marL="0" indent="0">
              <a:buNone/>
            </a:pPr>
            <a:r>
              <a:rPr lang="en-US" sz="1200" b="1" dirty="0">
                <a:solidFill>
                  <a:schemeClr val="accent6"/>
                </a:solidFill>
              </a:rPr>
              <a:t>lấp G2, G3</a:t>
            </a:r>
            <a:endParaRPr lang="en-US" sz="1200" dirty="0"/>
          </a:p>
        </p:txBody>
      </p:sp>
      <p:sp>
        <p:nvSpPr>
          <p:cNvPr id="8" name="card-66"/>
          <p:cNvSpPr/>
          <p:nvPr/>
        </p:nvSpPr>
        <p:spPr>
          <a:xfrm>
            <a:off x="5020056" y="5464170"/>
            <a:ext cx="2103120" cy="868680"/>
          </a:xfrm>
          <a:prstGeom prst="roundRect">
            <a:avLst>
              <a:gd name="adj" fmla="val 8421"/>
            </a:avLst>
          </a:prstGeom>
          <a:solidFill>
            <a:schemeClr val="bg2"/>
          </a:solidFill>
          <a:ln w="12700">
            <a:solidFill>
              <a:schemeClr val="bg2"/>
            </a:solidFill>
            <a:prstDash val="solid"/>
          </a:ln>
        </p:spPr>
      </p:sp>
      <p:sp>
        <p:nvSpPr>
          <p:cNvPr id="9" name="text-67"/>
          <p:cNvSpPr txBox="1"/>
          <p:nvPr/>
        </p:nvSpPr>
        <p:spPr>
          <a:xfrm>
            <a:off x="5157216" y="5555610"/>
            <a:ext cx="1828800" cy="731520"/>
          </a:xfrm>
          <a:prstGeom prst="rect">
            <a:avLst/>
          </a:prstGeom>
          <a:noFill/>
          <a:ln/>
        </p:spPr>
        <p:txBody>
          <a:bodyPr wrap="square" lIns="0" tIns="0" rIns="0" bIns="0" rtlCol="0" anchor="t"/>
          <a:lstStyle/>
          <a:p>
            <a:pPr marL="0" indent="0">
              <a:buNone/>
            </a:pPr>
            <a:r>
              <a:rPr lang="en-US" sz="1200" b="1" dirty="0">
                <a:solidFill>
                  <a:schemeClr val="accent4"/>
                </a:solidFill>
              </a:rPr>
              <a:t>C3  </a:t>
            </a:r>
            <a:r>
              <a:rPr lang="en-US" sz="1200" dirty="0">
                <a:solidFill>
                  <a:schemeClr val="tx1"/>
                </a:solidFill>
              </a:rPr>
              <a:t>Expert iteration G → S2 → S3</a:t>
            </a:r>
            <a:endParaRPr lang="en-US" sz="1200" dirty="0"/>
          </a:p>
          <a:p>
            <a:pPr marL="0" indent="0">
              <a:buNone/>
            </a:pPr>
            <a:r>
              <a:rPr lang="en-US" sz="1200" b="1" dirty="0">
                <a:solidFill>
                  <a:schemeClr val="accent6"/>
                </a:solidFill>
              </a:rPr>
              <a:t>lấp G2</a:t>
            </a:r>
            <a:endParaRPr lang="en-US" sz="1200" dirty="0"/>
          </a:p>
        </p:txBody>
      </p:sp>
      <p:sp>
        <p:nvSpPr>
          <p:cNvPr id="10" name="card-68"/>
          <p:cNvSpPr/>
          <p:nvPr/>
        </p:nvSpPr>
        <p:spPr>
          <a:xfrm>
            <a:off x="7255764" y="5464170"/>
            <a:ext cx="2103120" cy="868680"/>
          </a:xfrm>
          <a:prstGeom prst="roundRect">
            <a:avLst>
              <a:gd name="adj" fmla="val 8421"/>
            </a:avLst>
          </a:prstGeom>
          <a:solidFill>
            <a:schemeClr val="bg2"/>
          </a:solidFill>
          <a:ln w="12700">
            <a:solidFill>
              <a:schemeClr val="bg2"/>
            </a:solidFill>
            <a:prstDash val="solid"/>
          </a:ln>
        </p:spPr>
      </p:sp>
      <p:sp>
        <p:nvSpPr>
          <p:cNvPr id="11" name="text-69"/>
          <p:cNvSpPr txBox="1"/>
          <p:nvPr/>
        </p:nvSpPr>
        <p:spPr>
          <a:xfrm>
            <a:off x="7392924" y="5555610"/>
            <a:ext cx="1828800" cy="731520"/>
          </a:xfrm>
          <a:prstGeom prst="rect">
            <a:avLst/>
          </a:prstGeom>
          <a:noFill/>
          <a:ln/>
        </p:spPr>
        <p:txBody>
          <a:bodyPr wrap="square" lIns="0" tIns="0" rIns="0" bIns="0" rtlCol="0" anchor="t"/>
          <a:lstStyle/>
          <a:p>
            <a:pPr marL="0" indent="0">
              <a:buNone/>
            </a:pPr>
            <a:r>
              <a:rPr lang="en-US" sz="1200" b="1" dirty="0">
                <a:solidFill>
                  <a:schemeClr val="accent4"/>
                </a:solidFill>
              </a:rPr>
              <a:t>C4  </a:t>
            </a:r>
            <a:r>
              <a:rPr lang="en-US" sz="1200" dirty="0">
                <a:solidFill>
                  <a:schemeClr val="tx1"/>
                </a:solidFill>
              </a:rPr>
              <a:t>Kết quả âm có kiểm soát</a:t>
            </a:r>
            <a:endParaRPr lang="en-US" sz="1200" dirty="0"/>
          </a:p>
          <a:p>
            <a:pPr marL="0" indent="0">
              <a:buNone/>
            </a:pPr>
            <a:r>
              <a:rPr lang="en-US" sz="1200" b="1" dirty="0">
                <a:solidFill>
                  <a:schemeClr val="accent6"/>
                </a:solidFill>
              </a:rPr>
              <a:t>củng cố C1–C3</a:t>
            </a:r>
            <a:endParaRPr lang="en-US" sz="1200" dirty="0"/>
          </a:p>
        </p:txBody>
      </p:sp>
      <p:sp>
        <p:nvSpPr>
          <p:cNvPr id="12" name="card-70"/>
          <p:cNvSpPr/>
          <p:nvPr/>
        </p:nvSpPr>
        <p:spPr>
          <a:xfrm>
            <a:off x="9491472" y="5464170"/>
            <a:ext cx="2103120" cy="868680"/>
          </a:xfrm>
          <a:prstGeom prst="roundRect">
            <a:avLst>
              <a:gd name="adj" fmla="val 8421"/>
            </a:avLst>
          </a:prstGeom>
          <a:solidFill>
            <a:schemeClr val="bg2"/>
          </a:solidFill>
          <a:ln w="12700">
            <a:solidFill>
              <a:schemeClr val="bg2"/>
            </a:solidFill>
            <a:prstDash val="solid"/>
          </a:ln>
        </p:spPr>
      </p:sp>
      <p:sp>
        <p:nvSpPr>
          <p:cNvPr id="13" name="text-71"/>
          <p:cNvSpPr txBox="1"/>
          <p:nvPr/>
        </p:nvSpPr>
        <p:spPr>
          <a:xfrm>
            <a:off x="9628632" y="5555610"/>
            <a:ext cx="1828800" cy="731520"/>
          </a:xfrm>
          <a:prstGeom prst="rect">
            <a:avLst/>
          </a:prstGeom>
          <a:noFill/>
          <a:ln/>
        </p:spPr>
        <p:txBody>
          <a:bodyPr wrap="square" lIns="0" tIns="0" rIns="0" bIns="0" rtlCol="0" anchor="t"/>
          <a:lstStyle/>
          <a:p>
            <a:pPr marL="0" indent="0">
              <a:buNone/>
            </a:pPr>
            <a:r>
              <a:rPr lang="en-US" sz="1200" b="1" dirty="0">
                <a:solidFill>
                  <a:schemeClr val="accent4"/>
                </a:solidFill>
              </a:rPr>
              <a:t>C5  </a:t>
            </a:r>
            <a:r>
              <a:rPr lang="en-US" sz="1200" dirty="0">
                <a:solidFill>
                  <a:schemeClr val="tx1"/>
                </a:solidFill>
              </a:rPr>
              <a:t>Phân tích hòa giữa agent mạnh</a:t>
            </a:r>
            <a:endParaRPr lang="en-US" sz="1200" dirty="0"/>
          </a:p>
          <a:p>
            <a:pPr marL="0" indent="0">
              <a:buNone/>
            </a:pPr>
            <a:r>
              <a:rPr lang="en-US" sz="1200" b="1" dirty="0">
                <a:solidFill>
                  <a:schemeClr val="accent6"/>
                </a:solidFill>
              </a:rPr>
              <a:t>lấp G4</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Mạng nhỏ, quan sát 13 kênh, mask chặn mọi nước tự sát</a:t>
            </a:r>
            <a:endParaRPr lang="en-US" sz="3000" dirty="0"/>
          </a:p>
        </p:txBody>
      </p:sp>
      <p:pic>
        <p:nvPicPr>
          <p:cNvPr id="3" name="img-72" descr="Quan sát 13 kênh 9×9 của một khoảnh khắc thật"/>
          <p:cNvPicPr>
            <a:picLocks noChangeAspect="1"/>
          </p:cNvPicPr>
          <p:nvPr/>
        </p:nvPicPr>
        <p:blipFill>
          <a:blip r:embed="rId3"/>
          <a:stretch>
            <a:fillRect/>
          </a:stretch>
        </p:blipFill>
        <p:spPr>
          <a:xfrm>
            <a:off x="548640" y="1325880"/>
            <a:ext cx="6309360" cy="2349771"/>
          </a:xfrm>
          <a:prstGeom prst="rect">
            <a:avLst/>
          </a:prstGeom>
        </p:spPr>
      </p:pic>
      <p:sp>
        <p:nvSpPr>
          <p:cNvPr id="4" name="text-73"/>
          <p:cNvSpPr txBox="1"/>
          <p:nvPr/>
        </p:nvSpPr>
        <p:spPr>
          <a:xfrm>
            <a:off x="548640" y="3721371"/>
            <a:ext cx="6309360" cy="457200"/>
          </a:xfrm>
          <a:prstGeom prst="rect">
            <a:avLst/>
          </a:prstGeom>
          <a:noFill/>
          <a:ln/>
        </p:spPr>
        <p:txBody>
          <a:bodyPr wrap="square" lIns="0" tIns="0" rIns="0" bIns="0" rtlCol="0" anchor="t"/>
          <a:lstStyle/>
          <a:p>
            <a:pPr marL="0" indent="0">
              <a:buNone/>
            </a:pPr>
            <a:r>
              <a:rPr lang="en-US" sz="1200" dirty="0">
                <a:solidFill>
                  <a:schemeClr val="accent5"/>
                </a:solidFill>
              </a:rPr>
              <a:t>Quan sát 13 kênh 9×9: tường, bom, lửa, vật phẩm, vị trí, và dự báo thời gian bị sát thương.</a:t>
            </a:r>
            <a:endParaRPr lang="en-US" sz="1200" dirty="0"/>
          </a:p>
        </p:txBody>
      </p:sp>
      <p:pic>
        <p:nvPicPr>
          <p:cNvPr id="5" name="img-74" descr="Kiến trúc CNN: ba lớp conv, FC 256, đầu actor và critic"/>
          <p:cNvPicPr>
            <a:picLocks noChangeAspect="1"/>
          </p:cNvPicPr>
          <p:nvPr/>
        </p:nvPicPr>
        <p:blipFill>
          <a:blip r:embed="rId4"/>
          <a:stretch>
            <a:fillRect/>
          </a:stretch>
        </p:blipFill>
        <p:spPr>
          <a:xfrm>
            <a:off x="548640" y="4270011"/>
            <a:ext cx="6309360" cy="1592697"/>
          </a:xfrm>
          <a:prstGeom prst="rect">
            <a:avLst/>
          </a:prstGeom>
        </p:spPr>
      </p:pic>
      <p:sp>
        <p:nvSpPr>
          <p:cNvPr id="6" name="text-75"/>
          <p:cNvSpPr txBox="1"/>
          <p:nvPr/>
        </p:nvSpPr>
        <p:spPr>
          <a:xfrm>
            <a:off x="548640" y="5908427"/>
            <a:ext cx="6309360" cy="457200"/>
          </a:xfrm>
          <a:prstGeom prst="rect">
            <a:avLst/>
          </a:prstGeom>
          <a:noFill/>
          <a:ln/>
        </p:spPr>
        <p:txBody>
          <a:bodyPr wrap="square" lIns="0" tIns="0" rIns="0" bIns="0" rtlCol="0" anchor="t"/>
          <a:lstStyle/>
          <a:p>
            <a:pPr marL="0" indent="0">
              <a:buNone/>
            </a:pPr>
            <a:r>
              <a:rPr lang="en-US" sz="1200" dirty="0">
                <a:solidFill>
                  <a:schemeClr val="accent5"/>
                </a:solidFill>
              </a:rPr>
              <a:t>1,388,359 tham số: 3 conv 3×3 (32, 64, 64) → FC 256 → actor 6 logit + critic.</a:t>
            </a:r>
            <a:endParaRPr lang="en-US" sz="1200" dirty="0"/>
          </a:p>
        </p:txBody>
      </p:sp>
      <p:sp>
        <p:nvSpPr>
          <p:cNvPr id="7" name="card-76"/>
          <p:cNvSpPr/>
          <p:nvPr/>
        </p:nvSpPr>
        <p:spPr>
          <a:xfrm>
            <a:off x="7178040" y="1325880"/>
            <a:ext cx="4462272" cy="2743200"/>
          </a:xfrm>
          <a:prstGeom prst="roundRect">
            <a:avLst>
              <a:gd name="adj" fmla="val 2667"/>
            </a:avLst>
          </a:prstGeom>
          <a:solidFill>
            <a:schemeClr val="bg2"/>
          </a:solidFill>
          <a:ln w="12700">
            <a:solidFill>
              <a:schemeClr val="bg2"/>
            </a:solidFill>
            <a:prstDash val="solid"/>
          </a:ln>
        </p:spPr>
      </p:sp>
      <p:pic>
        <p:nvPicPr>
          <p:cNvPr id="8" name="formula-77" descr="Công thức B1"/>
          <p:cNvPicPr>
            <a:picLocks noChangeAspect="1"/>
          </p:cNvPicPr>
          <p:nvPr/>
        </p:nvPicPr>
        <p:blipFill>
          <a:blip r:embed="rId5"/>
          <a:stretch>
            <a:fillRect/>
          </a:stretch>
        </p:blipFill>
        <p:spPr>
          <a:xfrm>
            <a:off x="7379208" y="1527048"/>
            <a:ext cx="2892156" cy="1030620"/>
          </a:xfrm>
          <a:prstGeom prst="rect">
            <a:avLst/>
          </a:prstGeom>
        </p:spPr>
      </p:pic>
      <p:sp>
        <p:nvSpPr>
          <p:cNvPr id="9" name="text-78"/>
          <p:cNvSpPr txBox="1"/>
          <p:nvPr/>
        </p:nvSpPr>
        <p:spPr>
          <a:xfrm>
            <a:off x="7379208" y="2685684"/>
            <a:ext cx="4059936" cy="1273668"/>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Tác dụng: </a:t>
            </a:r>
            <a:r>
              <a:rPr lang="en-US" sz="1400" dirty="0">
                <a:solidFill>
                  <a:schemeClr val="tx1"/>
                </a:solidFill>
              </a:rPr>
              <a:t>policy chỉ chia xác suất cho các nước an toàn (m_a = 1); nước bị cấm có xác suất 0.</a:t>
            </a:r>
            <a:endParaRPr lang="en-US" sz="1400" dirty="0"/>
          </a:p>
          <a:p>
            <a:pPr marL="0" indent="0">
              <a:spcAft>
                <a:spcPts val="400"/>
              </a:spcAft>
              <a:buNone/>
            </a:pPr>
            <a:r>
              <a:rPr lang="en-US" sz="1400" b="1" dirty="0">
                <a:solidFill>
                  <a:schemeClr val="accent4"/>
                </a:solidFill>
              </a:rPr>
              <a:t>Lý do: </a:t>
            </a:r>
            <a:r>
              <a:rPr lang="en-US" sz="1400" dirty="0">
                <a:solidFill>
                  <a:schemeClr val="tx1"/>
                </a:solidFill>
              </a:rPr>
              <a:t>mask logit giữ policy gradient hợp lệ. Không lọc hành động, PPO không học được gì sau 5 ngày (Gao 2019).</a:t>
            </a:r>
            <a:endParaRPr lang="en-US" sz="1400" dirty="0"/>
          </a:p>
        </p:txBody>
      </p:sp>
      <p:sp>
        <p:nvSpPr>
          <p:cNvPr id="10" name="card-79"/>
          <p:cNvSpPr/>
          <p:nvPr/>
        </p:nvSpPr>
        <p:spPr>
          <a:xfrm>
            <a:off x="7178040" y="4251960"/>
            <a:ext cx="4462272" cy="2103120"/>
          </a:xfrm>
          <a:prstGeom prst="roundRect">
            <a:avLst>
              <a:gd name="adj" fmla="val 3478"/>
            </a:avLst>
          </a:prstGeom>
          <a:solidFill>
            <a:schemeClr val="bg2"/>
          </a:solidFill>
          <a:ln w="12700">
            <a:solidFill>
              <a:schemeClr val="bg2"/>
            </a:solidFill>
            <a:prstDash val="solid"/>
          </a:ln>
        </p:spPr>
      </p:sp>
      <p:sp>
        <p:nvSpPr>
          <p:cNvPr id="11" name="text-80"/>
          <p:cNvSpPr txBox="1"/>
          <p:nvPr/>
        </p:nvSpPr>
        <p:spPr>
          <a:xfrm>
            <a:off x="7379208" y="4389120"/>
            <a:ext cx="4059936" cy="18745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Mask m(s) bỏ nước đi vào ô sắp nổ và đặt bom khi không có đường thoát.</a:t>
            </a:r>
            <a:endParaRPr lang="en-US" sz="1400" dirty="0"/>
          </a:p>
          <a:p>
            <a:pPr marL="342900" indent="-342900">
              <a:spcAft>
                <a:spcPts val="500"/>
              </a:spcAft>
              <a:buSzPct val="100000"/>
              <a:buChar char="•"/>
            </a:pPr>
            <a:r>
              <a:rPr lang="en-US" sz="1400" dirty="0">
                <a:solidFill>
                  <a:schemeClr val="tx1"/>
                </a:solidFill>
              </a:rPr>
              <a:t>RuleBot cố định làm đối thủ, cũng dùng mask này.</a:t>
            </a:r>
            <a:endParaRPr lang="en-US" sz="1400" dirty="0"/>
          </a:p>
          <a:p>
            <a:pPr marL="342900" indent="-342900">
              <a:spcAft>
                <a:spcPts val="500"/>
              </a:spcAft>
              <a:buSzPct val="100000"/>
              <a:buChar char="•"/>
            </a:pPr>
            <a:r>
              <a:rPr lang="en-US" sz="1400" dirty="0">
                <a:solidFill>
                  <a:schemeClr val="tx1"/>
                </a:solidFill>
              </a:rPr>
              <a:t>Sudden death lịch E: vòng co từ bước 475, cách 25 bước, cảnh báo 40 bước.</a:t>
            </a:r>
            <a:endParaRPr lang="en-US" sz="1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Giai đoạn 1: RL có teacher phụ chạm trần 40–51%</a:t>
            </a:r>
            <a:endParaRPr lang="en-US" sz="3000" dirty="0"/>
          </a:p>
        </p:txBody>
      </p:sp>
      <p:sp>
        <p:nvSpPr>
          <p:cNvPr id="3" name="card-81"/>
          <p:cNvSpPr/>
          <p:nvPr/>
        </p:nvSpPr>
        <p:spPr>
          <a:xfrm>
            <a:off x="548640" y="1280160"/>
            <a:ext cx="11091672" cy="1417320"/>
          </a:xfrm>
          <a:prstGeom prst="roundRect">
            <a:avLst>
              <a:gd name="adj" fmla="val 5161"/>
            </a:avLst>
          </a:prstGeom>
          <a:solidFill>
            <a:schemeClr val="bg2"/>
          </a:solidFill>
          <a:ln w="12700">
            <a:solidFill>
              <a:schemeClr val="bg2"/>
            </a:solidFill>
            <a:prstDash val="solid"/>
          </a:ln>
        </p:spPr>
      </p:sp>
      <p:pic>
        <p:nvPicPr>
          <p:cNvPr id="4" name="formula-82" descr="Công thức loss RL"/>
          <p:cNvPicPr>
            <a:picLocks noChangeAspect="1"/>
          </p:cNvPicPr>
          <p:nvPr/>
        </p:nvPicPr>
        <p:blipFill>
          <a:blip r:embed="rId3"/>
          <a:stretch>
            <a:fillRect/>
          </a:stretch>
        </p:blipFill>
        <p:spPr>
          <a:xfrm>
            <a:off x="777240" y="1461668"/>
            <a:ext cx="4471416" cy="1054303"/>
          </a:xfrm>
          <a:prstGeom prst="rect">
            <a:avLst/>
          </a:prstGeom>
        </p:spPr>
      </p:pic>
      <p:sp>
        <p:nvSpPr>
          <p:cNvPr id="5" name="text-83"/>
          <p:cNvSpPr txBox="1"/>
          <p:nvPr/>
        </p:nvSpPr>
        <p:spPr>
          <a:xfrm>
            <a:off x="5486400" y="1371600"/>
            <a:ext cx="5925312" cy="1280160"/>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Tác dụng: </a:t>
            </a:r>
            <a:r>
              <a:rPr lang="en-US" sz="1400" dirty="0">
                <a:solidFill>
                  <a:schemeClr val="tx1"/>
                </a:solidFill>
              </a:rPr>
              <a:t>tăng xác suất nước có advantage dương, học V làm baseline, entropy giữ khám phá; bốn teacher phụ (escape, combat, navigation, ring) cho nhãn cục bộ mỗi bước.</a:t>
            </a:r>
            <a:endParaRPr lang="en-US" sz="1400" dirty="0"/>
          </a:p>
          <a:p>
            <a:pPr marL="0" indent="0">
              <a:spcAft>
                <a:spcPts val="400"/>
              </a:spcAft>
              <a:buNone/>
            </a:pPr>
            <a:r>
              <a:rPr lang="en-US" sz="1400" b="1" dirty="0">
                <a:solidFill>
                  <a:schemeClr val="accent4"/>
                </a:solidFill>
              </a:rPr>
              <a:t>Lý do: </a:t>
            </a:r>
            <a:r>
              <a:rPr lang="en-US" sz="1400" dirty="0">
                <a:solidFill>
                  <a:schemeClr val="tx1"/>
                </a:solidFill>
              </a:rPr>
              <a:t>thưởng giết thưa và trễ; teacher cho tín hiệu dày khi chưa có kill nào.</a:t>
            </a:r>
            <a:endParaRPr lang="en-US" sz="1400" dirty="0"/>
          </a:p>
        </p:txBody>
      </p:sp>
      <p:sp>
        <p:nvSpPr>
          <p:cNvPr id="6" name="card-84"/>
          <p:cNvSpPr/>
          <p:nvPr/>
        </p:nvSpPr>
        <p:spPr>
          <a:xfrm>
            <a:off x="548640" y="2816352"/>
            <a:ext cx="5440680" cy="1920240"/>
          </a:xfrm>
          <a:prstGeom prst="roundRect">
            <a:avLst>
              <a:gd name="adj" fmla="val 3810"/>
            </a:avLst>
          </a:prstGeom>
          <a:solidFill>
            <a:schemeClr val="bg2"/>
          </a:solidFill>
          <a:ln w="12700">
            <a:solidFill>
              <a:schemeClr val="bg2"/>
            </a:solidFill>
            <a:prstDash val="solid"/>
          </a:ln>
        </p:spPr>
      </p:sp>
      <p:pic>
        <p:nvPicPr>
          <p:cNvPr id="7" name="formula-85" descr="Công thức B3"/>
          <p:cNvPicPr>
            <a:picLocks noChangeAspect="1"/>
          </p:cNvPicPr>
          <p:nvPr/>
        </p:nvPicPr>
        <p:blipFill>
          <a:blip r:embed="rId4"/>
          <a:stretch>
            <a:fillRect/>
          </a:stretch>
        </p:blipFill>
        <p:spPr>
          <a:xfrm>
            <a:off x="749808" y="3017520"/>
            <a:ext cx="4219956" cy="689458"/>
          </a:xfrm>
          <a:prstGeom prst="rect">
            <a:avLst/>
          </a:prstGeom>
        </p:spPr>
      </p:pic>
      <p:sp>
        <p:nvSpPr>
          <p:cNvPr id="8" name="text-86"/>
          <p:cNvSpPr txBox="1"/>
          <p:nvPr/>
        </p:nvSpPr>
        <p:spPr>
          <a:xfrm>
            <a:off x="749808" y="3834994"/>
            <a:ext cx="5038344" cy="791870"/>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Tác dụng: </a:t>
            </a:r>
            <a:r>
              <a:rPr lang="en-US" sz="1400" dirty="0">
                <a:solidFill>
                  <a:schemeClr val="tx1"/>
                </a:solidFill>
              </a:rPr>
              <a:t>advantage là phần lợi thật so với giá trị dự đoán V.</a:t>
            </a:r>
            <a:endParaRPr lang="en-US" sz="1400" dirty="0"/>
          </a:p>
          <a:p>
            <a:pPr marL="0" indent="0">
              <a:spcAft>
                <a:spcPts val="400"/>
              </a:spcAft>
              <a:buNone/>
            </a:pPr>
            <a:r>
              <a:rPr lang="en-US" sz="1400" b="1" dirty="0">
                <a:solidFill>
                  <a:schemeClr val="accent4"/>
                </a:solidFill>
              </a:rPr>
              <a:t>Lý do: </a:t>
            </a:r>
            <a:r>
              <a:rPr lang="en-US" sz="1400" dirty="0">
                <a:solidFill>
                  <a:schemeClr val="tx1"/>
                </a:solidFill>
              </a:rPr>
              <a:t>baseline V giảm phương sai. GAE và PPO đã thử, không hơn.</a:t>
            </a:r>
            <a:endParaRPr lang="en-US" sz="1400" dirty="0"/>
          </a:p>
        </p:txBody>
      </p:sp>
      <p:sp>
        <p:nvSpPr>
          <p:cNvPr id="9" name="card-87"/>
          <p:cNvSpPr/>
          <p:nvPr/>
        </p:nvSpPr>
        <p:spPr>
          <a:xfrm>
            <a:off x="6199632" y="2816352"/>
            <a:ext cx="5440680" cy="1920240"/>
          </a:xfrm>
          <a:prstGeom prst="roundRect">
            <a:avLst>
              <a:gd name="adj" fmla="val 3810"/>
            </a:avLst>
          </a:prstGeom>
          <a:solidFill>
            <a:schemeClr val="bg2"/>
          </a:solidFill>
          <a:ln w="12700">
            <a:solidFill>
              <a:schemeClr val="bg2"/>
            </a:solidFill>
            <a:prstDash val="solid"/>
          </a:ln>
        </p:spPr>
      </p:sp>
      <p:pic>
        <p:nvPicPr>
          <p:cNvPr id="10" name="formula-88" descr="Công thức B4"/>
          <p:cNvPicPr>
            <a:picLocks noChangeAspect="1"/>
          </p:cNvPicPr>
          <p:nvPr/>
        </p:nvPicPr>
        <p:blipFill>
          <a:blip r:embed="rId5"/>
          <a:stretch>
            <a:fillRect/>
          </a:stretch>
        </p:blipFill>
        <p:spPr>
          <a:xfrm>
            <a:off x="6400800" y="3017520"/>
            <a:ext cx="5038344" cy="683148"/>
          </a:xfrm>
          <a:prstGeom prst="rect">
            <a:avLst/>
          </a:prstGeom>
        </p:spPr>
      </p:pic>
      <p:sp>
        <p:nvSpPr>
          <p:cNvPr id="11" name="text-89"/>
          <p:cNvSpPr txBox="1"/>
          <p:nvPr/>
        </p:nvSpPr>
        <p:spPr>
          <a:xfrm>
            <a:off x="6400800" y="3828684"/>
            <a:ext cx="5038344" cy="798180"/>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Tác dụng: </a:t>
            </a:r>
            <a:r>
              <a:rPr lang="en-US" sz="1400" dirty="0">
                <a:solidFill>
                  <a:schemeClr val="tx1"/>
                </a:solidFill>
              </a:rPr>
              <a:t>chơi lại K = 16 lần từ trạng thái quyết định; o_k ∈ {+1 giết, −1 chết, 0}, so với trung bình nhóm ō.</a:t>
            </a:r>
            <a:endParaRPr lang="en-US" sz="1400" dirty="0"/>
          </a:p>
          <a:p>
            <a:pPr marL="0" indent="0">
              <a:spcAft>
                <a:spcPts val="400"/>
              </a:spcAft>
              <a:buNone/>
            </a:pPr>
            <a:r>
              <a:rPr lang="en-US" sz="1400" b="1" dirty="0">
                <a:solidFill>
                  <a:schemeClr val="accent4"/>
                </a:solidFill>
              </a:rPr>
              <a:t>Lý do: </a:t>
            </a:r>
            <a:r>
              <a:rPr lang="en-US" sz="1400" dirty="0">
                <a:solidFill>
                  <a:schemeClr val="tx1"/>
                </a:solidFill>
              </a:rPr>
              <a:t>mỗi ván chỉ có ~1.25 khoảnh khắc quyết định; kiểu GRPO không cần critic. Kết quả là G.</a:t>
            </a:r>
            <a:endParaRPr lang="en-US" sz="1400" dirty="0"/>
          </a:p>
        </p:txBody>
      </p:sp>
      <p:pic>
        <p:nvPicPr>
          <p:cNvPr id="12" name="img-90" descr="Đường cong huấn luyện RL: ActiveWR dao động 35–55%"/>
          <p:cNvPicPr>
            <a:picLocks noChangeAspect="1"/>
          </p:cNvPicPr>
          <p:nvPr/>
        </p:nvPicPr>
        <p:blipFill>
          <a:blip r:embed="rId6"/>
          <a:stretch>
            <a:fillRect/>
          </a:stretch>
        </p:blipFill>
        <p:spPr>
          <a:xfrm>
            <a:off x="548640" y="4892040"/>
            <a:ext cx="3595343" cy="1463040"/>
          </a:xfrm>
          <a:prstGeom prst="rect">
            <a:avLst/>
          </a:prstGeom>
        </p:spPr>
      </p:pic>
      <p:sp>
        <p:nvSpPr>
          <p:cNvPr id="13" name="text-91"/>
          <p:cNvSpPr txBox="1"/>
          <p:nvPr/>
        </p:nvSpPr>
        <p:spPr>
          <a:xfrm>
            <a:off x="4418303" y="5029200"/>
            <a:ext cx="7222009" cy="1097280"/>
          </a:xfrm>
          <a:prstGeom prst="rect">
            <a:avLst/>
          </a:prstGeom>
          <a:noFill/>
          <a:ln/>
        </p:spPr>
        <p:txBody>
          <a:bodyPr wrap="square" lIns="0" tIns="0" rIns="0" bIns="0" rtlCol="0" anchor="t"/>
          <a:lstStyle/>
          <a:p>
            <a:pPr marL="0" indent="0">
              <a:buNone/>
            </a:pPr>
            <a:r>
              <a:rPr lang="en-US" sz="1500" dirty="0">
                <a:solidFill>
                  <a:schemeClr val="tx1"/>
                </a:solidFill>
              </a:rPr>
              <a:t>3000 episode mỗi nhánh. ActiveWR khi train dao động 35–55% và đỉnh validation không lặp lại trên test. Kết quả: B 40.0 → F 44.25 → G 48.25.</a:t>
            </a:r>
            <a:endParaRPr lang="en-US" sz="15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RL bão hòa: hơn chục cải tiến chuẩn đều trượt gate</a:t>
            </a:r>
            <a:endParaRPr lang="en-US" sz="3000" dirty="0"/>
          </a:p>
        </p:txBody>
      </p:sp>
      <p:pic>
        <p:nvPicPr>
          <p:cNvPr id="3" name="img-92" descr="Rừng khoảng tin cậy: hiệu ActiveWR ghép cặp của các so sánh, vạch đứt là gate +5 pp"/>
          <p:cNvPicPr>
            <a:picLocks noChangeAspect="1"/>
          </p:cNvPicPr>
          <p:nvPr/>
        </p:nvPicPr>
        <p:blipFill>
          <a:blip r:embed="rId3"/>
          <a:stretch>
            <a:fillRect/>
          </a:stretch>
        </p:blipFill>
        <p:spPr>
          <a:xfrm>
            <a:off x="548640" y="1325880"/>
            <a:ext cx="6583680" cy="2383124"/>
          </a:xfrm>
          <a:prstGeom prst="rect">
            <a:avLst/>
          </a:prstGeom>
        </p:spPr>
      </p:pic>
      <p:sp>
        <p:nvSpPr>
          <p:cNvPr id="4" name="text-93"/>
          <p:cNvSpPr txBox="1"/>
          <p:nvPr/>
        </p:nvSpPr>
        <p:spPr>
          <a:xfrm>
            <a:off x="548640" y="3754724"/>
            <a:ext cx="6583680" cy="457200"/>
          </a:xfrm>
          <a:prstGeom prst="rect">
            <a:avLst/>
          </a:prstGeom>
          <a:noFill/>
          <a:ln/>
        </p:spPr>
        <p:txBody>
          <a:bodyPr wrap="square" lIns="0" tIns="0" rIns="0" bIns="0" rtlCol="0" anchor="t"/>
          <a:lstStyle/>
          <a:p>
            <a:pPr marL="0" indent="0">
              <a:buNone/>
            </a:pPr>
            <a:r>
              <a:rPr lang="en-US" sz="1200" dirty="0">
                <a:solidFill>
                  <a:schemeClr val="accent5"/>
                </a:solidFill>
              </a:rPr>
              <a:t>Mỗi hàng: hiệu ActiveWR ghép cặp theo bàn, CI95 bootstrap. Vạch đứt là gate +5pp.</a:t>
            </a:r>
            <a:endParaRPr lang="en-US" sz="1200" dirty="0"/>
          </a:p>
        </p:txBody>
      </p:sp>
      <p:sp>
        <p:nvSpPr>
          <p:cNvPr id="5" name="card-94"/>
          <p:cNvSpPr/>
          <p:nvPr/>
        </p:nvSpPr>
        <p:spPr>
          <a:xfrm>
            <a:off x="548640" y="4349084"/>
            <a:ext cx="1554480" cy="1417320"/>
          </a:xfrm>
          <a:prstGeom prst="roundRect">
            <a:avLst>
              <a:gd name="adj" fmla="val 5161"/>
            </a:avLst>
          </a:prstGeom>
          <a:solidFill>
            <a:schemeClr val="bg2"/>
          </a:solidFill>
          <a:ln w="12700">
            <a:solidFill>
              <a:schemeClr val="bg2"/>
            </a:solidFill>
            <a:prstDash val="solid"/>
          </a:ln>
        </p:spPr>
      </p:sp>
      <p:sp>
        <p:nvSpPr>
          <p:cNvPr id="6" name="text-95"/>
          <p:cNvSpPr txBox="1"/>
          <p:nvPr/>
        </p:nvSpPr>
        <p:spPr>
          <a:xfrm>
            <a:off x="658368" y="4458812"/>
            <a:ext cx="1335024" cy="457200"/>
          </a:xfrm>
          <a:prstGeom prst="rect">
            <a:avLst/>
          </a:prstGeom>
          <a:noFill/>
          <a:ln/>
        </p:spPr>
        <p:txBody>
          <a:bodyPr wrap="square" lIns="0" tIns="0" rIns="0" bIns="0" rtlCol="0" anchor="t"/>
          <a:lstStyle/>
          <a:p>
            <a:pPr marL="0" indent="0">
              <a:buNone/>
            </a:pPr>
            <a:r>
              <a:rPr lang="en-US" sz="2200" b="1" dirty="0">
                <a:solidFill>
                  <a:schemeClr val="accent6"/>
                </a:solidFill>
                <a:latin typeface="+mj-lt" pitchFamily="34" charset="0"/>
                <a:ea typeface="+mj-lt" pitchFamily="34" charset="-122"/>
                <a:cs typeface="+mj-lt" pitchFamily="34" charset="-120"/>
              </a:rPr>
              <a:t>0.0</a:t>
            </a:r>
            <a:endParaRPr lang="en-US" sz="2200" dirty="0"/>
          </a:p>
        </p:txBody>
      </p:sp>
      <p:sp>
        <p:nvSpPr>
          <p:cNvPr id="7" name="text-96"/>
          <p:cNvSpPr txBox="1"/>
          <p:nvPr/>
        </p:nvSpPr>
        <p:spPr>
          <a:xfrm>
            <a:off x="658368" y="4970876"/>
            <a:ext cx="1335024" cy="914400"/>
          </a:xfrm>
          <a:prstGeom prst="rect">
            <a:avLst/>
          </a:prstGeom>
          <a:noFill/>
          <a:ln/>
        </p:spPr>
        <p:txBody>
          <a:bodyPr wrap="square" lIns="0" tIns="0" rIns="0" bIns="0" rtlCol="0" anchor="t"/>
          <a:lstStyle/>
          <a:p>
            <a:pPr marL="0" indent="0">
              <a:buNone/>
            </a:pPr>
            <a:r>
              <a:rPr lang="en-US" sz="1200" dirty="0">
                <a:solidFill>
                  <a:schemeClr val="tx1"/>
                </a:solidFill>
              </a:rPr>
              <a:t>GAE λ = 0.95: giữ trọng số ban đầu</a:t>
            </a:r>
            <a:endParaRPr lang="en-US" sz="1200" dirty="0"/>
          </a:p>
        </p:txBody>
      </p:sp>
      <p:sp>
        <p:nvSpPr>
          <p:cNvPr id="8" name="card-97"/>
          <p:cNvSpPr/>
          <p:nvPr/>
        </p:nvSpPr>
        <p:spPr>
          <a:xfrm>
            <a:off x="2224735" y="4349084"/>
            <a:ext cx="1554480" cy="1417320"/>
          </a:xfrm>
          <a:prstGeom prst="roundRect">
            <a:avLst>
              <a:gd name="adj" fmla="val 5161"/>
            </a:avLst>
          </a:prstGeom>
          <a:solidFill>
            <a:schemeClr val="bg2"/>
          </a:solidFill>
          <a:ln w="12700">
            <a:solidFill>
              <a:schemeClr val="bg2"/>
            </a:solidFill>
            <a:prstDash val="solid"/>
          </a:ln>
        </p:spPr>
      </p:sp>
      <p:sp>
        <p:nvSpPr>
          <p:cNvPr id="9" name="text-98"/>
          <p:cNvSpPr txBox="1"/>
          <p:nvPr/>
        </p:nvSpPr>
        <p:spPr>
          <a:xfrm>
            <a:off x="2334463" y="4458812"/>
            <a:ext cx="1335024" cy="457200"/>
          </a:xfrm>
          <a:prstGeom prst="rect">
            <a:avLst/>
          </a:prstGeom>
          <a:noFill/>
          <a:ln/>
        </p:spPr>
        <p:txBody>
          <a:bodyPr wrap="square" lIns="0" tIns="0" rIns="0" bIns="0" rtlCol="0" anchor="t"/>
          <a:lstStyle/>
          <a:p>
            <a:pPr marL="0" indent="0">
              <a:buNone/>
            </a:pPr>
            <a:r>
              <a:rPr lang="en-US" sz="2200" b="1" dirty="0">
                <a:solidFill>
                  <a:schemeClr val="accent6"/>
                </a:solidFill>
                <a:latin typeface="+mj-lt" pitchFamily="34" charset="0"/>
                <a:ea typeface="+mj-lt" pitchFamily="34" charset="-122"/>
                <a:cs typeface="+mj-lt" pitchFamily="34" charset="-120"/>
              </a:rPr>
              <a:t>−5.5</a:t>
            </a:r>
            <a:endParaRPr lang="en-US" sz="2200" dirty="0"/>
          </a:p>
        </p:txBody>
      </p:sp>
      <p:sp>
        <p:nvSpPr>
          <p:cNvPr id="10" name="text-99"/>
          <p:cNvSpPr txBox="1"/>
          <p:nvPr/>
        </p:nvSpPr>
        <p:spPr>
          <a:xfrm>
            <a:off x="2334463" y="4970876"/>
            <a:ext cx="1335024" cy="914400"/>
          </a:xfrm>
          <a:prstGeom prst="rect">
            <a:avLst/>
          </a:prstGeom>
          <a:noFill/>
          <a:ln/>
        </p:spPr>
        <p:txBody>
          <a:bodyPr wrap="square" lIns="0" tIns="0" rIns="0" bIns="0" rtlCol="0" anchor="t"/>
          <a:lstStyle/>
          <a:p>
            <a:pPr marL="0" indent="0">
              <a:buNone/>
            </a:pPr>
            <a:r>
              <a:rPr lang="en-US" sz="1200" dirty="0">
                <a:solidFill>
                  <a:schemeClr val="tx1"/>
                </a:solidFill>
              </a:rPr>
              <a:t>PPO clip 0.2 (32.0 so với 37.5)</a:t>
            </a:r>
            <a:endParaRPr lang="en-US" sz="1200" dirty="0"/>
          </a:p>
        </p:txBody>
      </p:sp>
      <p:sp>
        <p:nvSpPr>
          <p:cNvPr id="11" name="card-100"/>
          <p:cNvSpPr/>
          <p:nvPr/>
        </p:nvSpPr>
        <p:spPr>
          <a:xfrm>
            <a:off x="3900830" y="4349084"/>
            <a:ext cx="1554480" cy="1417320"/>
          </a:xfrm>
          <a:prstGeom prst="roundRect">
            <a:avLst>
              <a:gd name="adj" fmla="val 5161"/>
            </a:avLst>
          </a:prstGeom>
          <a:solidFill>
            <a:schemeClr val="bg2"/>
          </a:solidFill>
          <a:ln w="12700">
            <a:solidFill>
              <a:schemeClr val="bg2"/>
            </a:solidFill>
            <a:prstDash val="solid"/>
          </a:ln>
        </p:spPr>
      </p:sp>
      <p:sp>
        <p:nvSpPr>
          <p:cNvPr id="12" name="text-101"/>
          <p:cNvSpPr txBox="1"/>
          <p:nvPr/>
        </p:nvSpPr>
        <p:spPr>
          <a:xfrm>
            <a:off x="4010558" y="4458812"/>
            <a:ext cx="1335024" cy="457200"/>
          </a:xfrm>
          <a:prstGeom prst="rect">
            <a:avLst/>
          </a:prstGeom>
          <a:noFill/>
          <a:ln/>
        </p:spPr>
        <p:txBody>
          <a:bodyPr wrap="square" lIns="0" tIns="0" rIns="0" bIns="0" rtlCol="0" anchor="t"/>
          <a:lstStyle/>
          <a:p>
            <a:pPr marL="0" indent="0">
              <a:buNone/>
            </a:pPr>
            <a:r>
              <a:rPr lang="en-US" sz="2200" b="1" dirty="0">
                <a:solidFill>
                  <a:schemeClr val="accent6"/>
                </a:solidFill>
                <a:latin typeface="+mj-lt" pitchFamily="34" charset="0"/>
                <a:ea typeface="+mj-lt" pitchFamily="34" charset="-122"/>
                <a:cs typeface="+mj-lt" pitchFamily="34" charset="-120"/>
              </a:rPr>
              <a:t>−2.25</a:t>
            </a:r>
            <a:endParaRPr lang="en-US" sz="2200" dirty="0"/>
          </a:p>
        </p:txBody>
      </p:sp>
      <p:sp>
        <p:nvSpPr>
          <p:cNvPr id="13" name="text-102"/>
          <p:cNvSpPr txBox="1"/>
          <p:nvPr/>
        </p:nvSpPr>
        <p:spPr>
          <a:xfrm>
            <a:off x="4010558" y="4970876"/>
            <a:ext cx="1335024" cy="914400"/>
          </a:xfrm>
          <a:prstGeom prst="rect">
            <a:avLst/>
          </a:prstGeom>
          <a:noFill/>
          <a:ln/>
        </p:spPr>
        <p:txBody>
          <a:bodyPr wrap="square" lIns="0" tIns="0" rIns="0" bIns="0" rtlCol="0" anchor="t"/>
          <a:lstStyle/>
          <a:p>
            <a:pPr marL="0" indent="0">
              <a:buNone/>
            </a:pPr>
            <a:r>
              <a:rPr lang="en-US" sz="1200" dirty="0">
                <a:solidFill>
                  <a:schemeClr val="tx1"/>
                </a:solidFill>
              </a:rPr>
              <a:t>train dưới sudden death</a:t>
            </a:r>
            <a:endParaRPr lang="en-US" sz="1200" dirty="0"/>
          </a:p>
        </p:txBody>
      </p:sp>
      <p:sp>
        <p:nvSpPr>
          <p:cNvPr id="14" name="card-103"/>
          <p:cNvSpPr/>
          <p:nvPr/>
        </p:nvSpPr>
        <p:spPr>
          <a:xfrm>
            <a:off x="5576926" y="4349084"/>
            <a:ext cx="1554480" cy="1417320"/>
          </a:xfrm>
          <a:prstGeom prst="roundRect">
            <a:avLst>
              <a:gd name="adj" fmla="val 5161"/>
            </a:avLst>
          </a:prstGeom>
          <a:solidFill>
            <a:schemeClr val="bg2"/>
          </a:solidFill>
          <a:ln w="12700">
            <a:solidFill>
              <a:schemeClr val="bg2"/>
            </a:solidFill>
            <a:prstDash val="solid"/>
          </a:ln>
        </p:spPr>
      </p:sp>
      <p:sp>
        <p:nvSpPr>
          <p:cNvPr id="15" name="text-104"/>
          <p:cNvSpPr txBox="1"/>
          <p:nvPr/>
        </p:nvSpPr>
        <p:spPr>
          <a:xfrm>
            <a:off x="5686654" y="4458812"/>
            <a:ext cx="1335024" cy="457200"/>
          </a:xfrm>
          <a:prstGeom prst="rect">
            <a:avLst/>
          </a:prstGeom>
          <a:noFill/>
          <a:ln/>
        </p:spPr>
        <p:txBody>
          <a:bodyPr wrap="square" lIns="0" tIns="0" rIns="0" bIns="0" rtlCol="0" anchor="t"/>
          <a:lstStyle/>
          <a:p>
            <a:pPr marL="0" indent="0">
              <a:buNone/>
            </a:pPr>
            <a:r>
              <a:rPr lang="en-US" sz="2200" b="1" dirty="0">
                <a:solidFill>
                  <a:schemeClr val="accent6"/>
                </a:solidFill>
                <a:latin typeface="+mj-lt" pitchFamily="34" charset="0"/>
                <a:ea typeface="+mj-lt" pitchFamily="34" charset="-122"/>
                <a:cs typeface="+mj-lt" pitchFamily="34" charset="-120"/>
              </a:rPr>
              <a:t>84 → 68</a:t>
            </a:r>
            <a:endParaRPr lang="en-US" sz="2200" dirty="0"/>
          </a:p>
        </p:txBody>
      </p:sp>
      <p:sp>
        <p:nvSpPr>
          <p:cNvPr id="16" name="text-105"/>
          <p:cNvSpPr txBox="1"/>
          <p:nvPr/>
        </p:nvSpPr>
        <p:spPr>
          <a:xfrm>
            <a:off x="5686654" y="4970876"/>
            <a:ext cx="1335024" cy="914400"/>
          </a:xfrm>
          <a:prstGeom prst="rect">
            <a:avLst/>
          </a:prstGeom>
          <a:noFill/>
          <a:ln/>
        </p:spPr>
        <p:txBody>
          <a:bodyPr wrap="square" lIns="0" tIns="0" rIns="0" bIns="0" rtlCol="0" anchor="t"/>
          <a:lstStyle/>
          <a:p>
            <a:pPr marL="0" indent="0">
              <a:buNone/>
            </a:pPr>
            <a:r>
              <a:rPr lang="en-US" sz="1200" dirty="0">
                <a:solidFill>
                  <a:schemeClr val="tx1"/>
                </a:solidFill>
              </a:rPr>
              <a:t>KL neo β = 1 sau chưng cất</a:t>
            </a:r>
            <a:endParaRPr lang="en-US" sz="1200" dirty="0"/>
          </a:p>
        </p:txBody>
      </p:sp>
      <p:sp>
        <p:nvSpPr>
          <p:cNvPr id="17" name="card-106"/>
          <p:cNvSpPr/>
          <p:nvPr/>
        </p:nvSpPr>
        <p:spPr>
          <a:xfrm>
            <a:off x="7360920" y="1325880"/>
            <a:ext cx="4279392" cy="2514600"/>
          </a:xfrm>
          <a:prstGeom prst="roundRect">
            <a:avLst>
              <a:gd name="adj" fmla="val 2909"/>
            </a:avLst>
          </a:prstGeom>
          <a:solidFill>
            <a:schemeClr val="bg2"/>
          </a:solidFill>
          <a:ln w="12700">
            <a:solidFill>
              <a:schemeClr val="bg2"/>
            </a:solidFill>
            <a:prstDash val="solid"/>
          </a:ln>
        </p:spPr>
      </p:sp>
      <p:pic>
        <p:nvPicPr>
          <p:cNvPr id="18" name="formula-107" descr="Công thức A2"/>
          <p:cNvPicPr>
            <a:picLocks noChangeAspect="1"/>
          </p:cNvPicPr>
          <p:nvPr/>
        </p:nvPicPr>
        <p:blipFill>
          <a:blip r:embed="rId4"/>
          <a:stretch>
            <a:fillRect/>
          </a:stretch>
        </p:blipFill>
        <p:spPr>
          <a:xfrm>
            <a:off x="7562088" y="1527048"/>
            <a:ext cx="3877056" cy="553052"/>
          </a:xfrm>
          <a:prstGeom prst="rect">
            <a:avLst/>
          </a:prstGeom>
        </p:spPr>
      </p:pic>
      <p:sp>
        <p:nvSpPr>
          <p:cNvPr id="19" name="text-108"/>
          <p:cNvSpPr txBox="1"/>
          <p:nvPr/>
        </p:nvSpPr>
        <p:spPr>
          <a:xfrm>
            <a:off x="7562088" y="2208116"/>
            <a:ext cx="3877056" cy="1522636"/>
          </a:xfrm>
          <a:prstGeom prst="rect">
            <a:avLst/>
          </a:prstGeom>
          <a:noFill/>
          <a:ln/>
        </p:spPr>
        <p:txBody>
          <a:bodyPr wrap="square" lIns="0" tIns="0" rIns="0" bIns="0" rtlCol="0" anchor="t"/>
          <a:lstStyle/>
          <a:p>
            <a:pPr marL="0" indent="0">
              <a:spcAft>
                <a:spcPts val="400"/>
              </a:spcAft>
              <a:buNone/>
            </a:pPr>
            <a:r>
              <a:rPr lang="en-US" sz="1300" b="1" dirty="0">
                <a:solidFill>
                  <a:schemeClr val="accent4"/>
                </a:solidFill>
              </a:rPr>
              <a:t>Tác dụng: </a:t>
            </a:r>
            <a:r>
              <a:rPr lang="en-US" sz="1300" dirty="0">
                <a:solidFill>
                  <a:schemeClr val="tx1"/>
                </a:solidFill>
              </a:rPr>
              <a:t>so hai model trên cùng bàn: trung bình hiệu ActiveWR theo bàn, CI95 từ 10⁴ lần bootstrap.</a:t>
            </a:r>
            <a:endParaRPr lang="en-US" sz="1300" dirty="0"/>
          </a:p>
          <a:p>
            <a:pPr marL="0" indent="0">
              <a:spcAft>
                <a:spcPts val="400"/>
              </a:spcAft>
              <a:buNone/>
            </a:pPr>
            <a:r>
              <a:rPr lang="en-US" sz="1300" b="1" dirty="0">
                <a:solidFill>
                  <a:schemeClr val="accent4"/>
                </a:solidFill>
              </a:rPr>
              <a:t>Lý do: </a:t>
            </a:r>
            <a:r>
              <a:rPr lang="en-US" sz="1300" dirty="0">
                <a:solidFill>
                  <a:schemeClr val="tx1"/>
                </a:solidFill>
              </a:rPr>
              <a:t>một khối test 400 trận dao động ~±5pp; ghép cặp loại nhiễu giữa các bàn.</a:t>
            </a:r>
            <a:endParaRPr lang="en-US" sz="1300" dirty="0"/>
          </a:p>
        </p:txBody>
      </p:sp>
      <p:sp>
        <p:nvSpPr>
          <p:cNvPr id="20" name="card-109"/>
          <p:cNvSpPr/>
          <p:nvPr/>
        </p:nvSpPr>
        <p:spPr>
          <a:xfrm>
            <a:off x="7360920" y="3977640"/>
            <a:ext cx="4279392" cy="2377440"/>
          </a:xfrm>
          <a:prstGeom prst="roundRect">
            <a:avLst>
              <a:gd name="adj" fmla="val 3077"/>
            </a:avLst>
          </a:prstGeom>
          <a:solidFill>
            <a:schemeClr val="bg2"/>
          </a:solidFill>
          <a:ln w="12700">
            <a:solidFill>
              <a:schemeClr val="bg2"/>
            </a:solidFill>
            <a:prstDash val="solid"/>
          </a:ln>
        </p:spPr>
      </p:sp>
      <p:pic>
        <p:nvPicPr>
          <p:cNvPr id="21" name="formula-110" descr="Công thức A3"/>
          <p:cNvPicPr>
            <a:picLocks noChangeAspect="1"/>
          </p:cNvPicPr>
          <p:nvPr/>
        </p:nvPicPr>
        <p:blipFill>
          <a:blip r:embed="rId5"/>
          <a:stretch>
            <a:fillRect/>
          </a:stretch>
        </p:blipFill>
        <p:spPr>
          <a:xfrm>
            <a:off x="7562088" y="4178808"/>
            <a:ext cx="3877056" cy="375590"/>
          </a:xfrm>
          <a:prstGeom prst="rect">
            <a:avLst/>
          </a:prstGeom>
        </p:spPr>
      </p:pic>
      <p:sp>
        <p:nvSpPr>
          <p:cNvPr id="22" name="text-111"/>
          <p:cNvSpPr txBox="1"/>
          <p:nvPr/>
        </p:nvSpPr>
        <p:spPr>
          <a:xfrm>
            <a:off x="7562088" y="4682414"/>
            <a:ext cx="3877056" cy="1562938"/>
          </a:xfrm>
          <a:prstGeom prst="rect">
            <a:avLst/>
          </a:prstGeom>
          <a:noFill/>
          <a:ln/>
        </p:spPr>
        <p:txBody>
          <a:bodyPr wrap="square" lIns="0" tIns="0" rIns="0" bIns="0" rtlCol="0" anchor="t"/>
          <a:lstStyle/>
          <a:p>
            <a:pPr marL="0" indent="0">
              <a:spcAft>
                <a:spcPts val="400"/>
              </a:spcAft>
              <a:buNone/>
            </a:pPr>
            <a:r>
              <a:rPr lang="en-US" sz="1300" b="1" dirty="0">
                <a:solidFill>
                  <a:schemeClr val="accent4"/>
                </a:solidFill>
              </a:rPr>
              <a:t>Tác dụng: </a:t>
            </a:r>
            <a:r>
              <a:rPr lang="en-US" sz="1300" dirty="0">
                <a:solidFill>
                  <a:schemeClr val="tx1"/>
                </a:solidFill>
              </a:rPr>
              <a:t>chỉ chấp nhận khi tăng ≥ 5pp, cận dưới CI &gt; 0 và tự nổ tăng ≤ 1pp.</a:t>
            </a:r>
            <a:endParaRPr lang="en-US" sz="1300" dirty="0"/>
          </a:p>
          <a:p>
            <a:pPr marL="0" indent="0">
              <a:spcAft>
                <a:spcPts val="400"/>
              </a:spcAft>
              <a:buNone/>
            </a:pPr>
            <a:r>
              <a:rPr lang="en-US" sz="1300" b="1" dirty="0">
                <a:solidFill>
                  <a:schemeClr val="accent4"/>
                </a:solidFill>
              </a:rPr>
              <a:t>Lý do: </a:t>
            </a:r>
            <a:r>
              <a:rPr lang="en-US" sz="1300" dirty="0">
                <a:solidFill>
                  <a:schemeClr val="tx1"/>
                </a:solidFill>
              </a:rPr>
              <a:t>gate chốt trước khi xem kết quả, nên không thể cứu thí nghiệm bằng cách chọn lọc.</a:t>
            </a:r>
            <a:endParaRPr lang="en-US" sz="13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Kill-search nhìn trước 12 tick, càng sâu càng mạnh</a:t>
            </a:r>
            <a:endParaRPr lang="en-US" sz="3000" dirty="0"/>
          </a:p>
        </p:txBody>
      </p:sp>
      <p:pic>
        <p:nvPicPr>
          <p:cNvPr id="3" name="img-112" descr="ActiveWR theo độ sâu của kill-search quanh G: 48.25, 64.75, 82.0, 94.0"/>
          <p:cNvPicPr>
            <a:picLocks noChangeAspect="1"/>
          </p:cNvPicPr>
          <p:nvPr/>
        </p:nvPicPr>
        <p:blipFill>
          <a:blip r:embed="rId3"/>
          <a:stretch>
            <a:fillRect/>
          </a:stretch>
        </p:blipFill>
        <p:spPr>
          <a:xfrm>
            <a:off x="548640" y="1325880"/>
            <a:ext cx="5120640" cy="3533160"/>
          </a:xfrm>
          <a:prstGeom prst="rect">
            <a:avLst/>
          </a:prstGeom>
        </p:spPr>
      </p:pic>
      <p:sp>
        <p:nvSpPr>
          <p:cNvPr id="4" name="text-113"/>
          <p:cNvSpPr txBox="1"/>
          <p:nvPr/>
        </p:nvSpPr>
        <p:spPr>
          <a:xfrm>
            <a:off x="548640" y="4904760"/>
            <a:ext cx="5120640" cy="457200"/>
          </a:xfrm>
          <a:prstGeom prst="rect">
            <a:avLst/>
          </a:prstGeom>
          <a:noFill/>
          <a:ln/>
        </p:spPr>
        <p:txBody>
          <a:bodyPr wrap="square" lIns="0" tIns="0" rIns="0" bIns="0" rtlCol="0" anchor="t"/>
          <a:lstStyle/>
          <a:p>
            <a:pPr marL="0" indent="0">
              <a:buNone/>
            </a:pPr>
            <a:r>
              <a:rPr lang="en-US" sz="1200" dirty="0">
                <a:solidFill>
                  <a:schemeClr val="accent5"/>
                </a:solidFill>
              </a:rPr>
              <a:t>ActiveWR theo độ sâu search quanh G. Mỗi đường nối hai agent trên cùng một khối test.</a:t>
            </a:r>
            <a:endParaRPr lang="en-US" sz="1200" dirty="0"/>
          </a:p>
        </p:txBody>
      </p:sp>
      <p:sp>
        <p:nvSpPr>
          <p:cNvPr id="5" name="card-114"/>
          <p:cNvSpPr/>
          <p:nvPr/>
        </p:nvSpPr>
        <p:spPr>
          <a:xfrm>
            <a:off x="548640" y="5361960"/>
            <a:ext cx="5120640" cy="868680"/>
          </a:xfrm>
          <a:prstGeom prst="roundRect">
            <a:avLst>
              <a:gd name="adj" fmla="val 8421"/>
            </a:avLst>
          </a:prstGeom>
          <a:solidFill>
            <a:schemeClr val="bg2"/>
          </a:solidFill>
          <a:ln w="12700">
            <a:solidFill>
              <a:schemeClr val="bg2"/>
            </a:solidFill>
            <a:prstDash val="solid"/>
          </a:ln>
        </p:spPr>
      </p:sp>
      <p:sp>
        <p:nvSpPr>
          <p:cNvPr id="6" name="text-115"/>
          <p:cNvSpPr txBox="1"/>
          <p:nvPr/>
        </p:nvSpPr>
        <p:spPr>
          <a:xfrm>
            <a:off x="731520" y="5499120"/>
            <a:ext cx="1737360" cy="548640"/>
          </a:xfrm>
          <a:prstGeom prst="rect">
            <a:avLst/>
          </a:prstGeom>
          <a:noFill/>
          <a:ln/>
        </p:spPr>
        <p:txBody>
          <a:bodyPr wrap="square" lIns="0" tIns="0" rIns="0" bIns="0" rtlCol="0" anchor="t"/>
          <a:lstStyle/>
          <a:p>
            <a:pPr marL="0" indent="0">
              <a:buNone/>
            </a:pPr>
            <a:r>
              <a:rPr lang="en-US" sz="2600" b="1" dirty="0">
                <a:solidFill>
                  <a:schemeClr val="accent6"/>
                </a:solidFill>
                <a:latin typeface="+mj-lt" pitchFamily="34" charset="0"/>
                <a:ea typeface="+mj-lt" pitchFamily="34" charset="-122"/>
                <a:cs typeface="+mj-lt" pitchFamily="34" charset="-120"/>
              </a:rPr>
              <a:t>213 ms</a:t>
            </a:r>
            <a:endParaRPr lang="en-US" sz="2600" dirty="0"/>
          </a:p>
        </p:txBody>
      </p:sp>
      <p:sp>
        <p:nvSpPr>
          <p:cNvPr id="7" name="text-116"/>
          <p:cNvSpPr txBox="1"/>
          <p:nvPr/>
        </p:nvSpPr>
        <p:spPr>
          <a:xfrm>
            <a:off x="2468880" y="5499120"/>
            <a:ext cx="3017520" cy="640080"/>
          </a:xfrm>
          <a:prstGeom prst="rect">
            <a:avLst/>
          </a:prstGeom>
          <a:noFill/>
          <a:ln/>
        </p:spPr>
        <p:txBody>
          <a:bodyPr wrap="square" lIns="0" tIns="0" rIns="0" bIns="0" rtlCol="0" anchor="t"/>
          <a:lstStyle/>
          <a:p>
            <a:pPr marL="0" indent="0">
              <a:buNone/>
            </a:pPr>
            <a:r>
              <a:rPr lang="en-US" sz="1400" dirty="0">
                <a:solidFill>
                  <a:schemeClr val="tx1"/>
                </a:solidFill>
              </a:rPr>
              <a:t>mỗi nước ở độ sâu 3, so với 1.9 ms cho một lượt chạy CNN</a:t>
            </a:r>
            <a:endParaRPr lang="en-US" sz="1400" dirty="0"/>
          </a:p>
        </p:txBody>
      </p:sp>
      <p:sp>
        <p:nvSpPr>
          <p:cNvPr id="8" name="badge-117"/>
          <p:cNvSpPr/>
          <p:nvPr/>
        </p:nvSpPr>
        <p:spPr>
          <a:xfrm>
            <a:off x="6355080" y="1371600"/>
            <a:ext cx="457200" cy="457200"/>
          </a:xfrm>
          <a:prstGeom prst="ellipse">
            <a:avLst/>
          </a:prstGeom>
          <a:solidFill>
            <a:schemeClr val="accent6"/>
          </a:solidFill>
          <a:ln w="12700">
            <a:solidFill>
              <a:schemeClr val="accent6"/>
            </a:solidFill>
            <a:prstDash val="solid"/>
          </a:ln>
        </p:spPr>
      </p:sp>
      <p:sp>
        <p:nvSpPr>
          <p:cNvPr id="9" name="badge-text-118"/>
          <p:cNvSpPr txBox="1"/>
          <p:nvPr/>
        </p:nvSpPr>
        <p:spPr>
          <a:xfrm>
            <a:off x="6355080" y="13716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119"/>
          <p:cNvSpPr txBox="1"/>
          <p:nvPr/>
        </p:nvSpPr>
        <p:spPr>
          <a:xfrm>
            <a:off x="6995160" y="1325880"/>
            <a:ext cx="4645152" cy="822960"/>
          </a:xfrm>
          <a:prstGeom prst="rect">
            <a:avLst/>
          </a:prstGeom>
          <a:noFill/>
          <a:ln/>
        </p:spPr>
        <p:txBody>
          <a:bodyPr wrap="square" lIns="0" tIns="0" rIns="0" bIns="0" rtlCol="0" anchor="ctr"/>
          <a:lstStyle/>
          <a:p>
            <a:pPr marL="0" indent="0">
              <a:buNone/>
            </a:pPr>
            <a:r>
              <a:rPr lang="en-US" sz="1400" dirty="0">
                <a:solidFill>
                  <a:schemeClr val="tx1"/>
                </a:solidFill>
              </a:rPr>
              <a:t>Với mỗi nước hợp lệ, mô phỏng 12 tick (bom 8 + lửa 2 + dự phòng). Đối thủ là RuleBot, learner chỉ né sau nước đầu.</a:t>
            </a:r>
            <a:endParaRPr lang="en-US" sz="1400" dirty="0"/>
          </a:p>
        </p:txBody>
      </p:sp>
      <p:sp>
        <p:nvSpPr>
          <p:cNvPr id="11" name="badge-120"/>
          <p:cNvSpPr/>
          <p:nvPr/>
        </p:nvSpPr>
        <p:spPr>
          <a:xfrm>
            <a:off x="6355080" y="2240280"/>
            <a:ext cx="457200" cy="457200"/>
          </a:xfrm>
          <a:prstGeom prst="ellipse">
            <a:avLst/>
          </a:prstGeom>
          <a:solidFill>
            <a:schemeClr val="accent6"/>
          </a:solidFill>
          <a:ln w="12700">
            <a:solidFill>
              <a:schemeClr val="accent6"/>
            </a:solidFill>
            <a:prstDash val="solid"/>
          </a:ln>
        </p:spPr>
      </p:sp>
      <p:sp>
        <p:nvSpPr>
          <p:cNvPr id="12" name="badge-text-121"/>
          <p:cNvSpPr txBox="1"/>
          <p:nvPr/>
        </p:nvSpPr>
        <p:spPr>
          <a:xfrm>
            <a:off x="6355080" y="22402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122"/>
          <p:cNvSpPr txBox="1"/>
          <p:nvPr/>
        </p:nvSpPr>
        <p:spPr>
          <a:xfrm>
            <a:off x="6995160" y="2194560"/>
            <a:ext cx="4645152" cy="822960"/>
          </a:xfrm>
          <a:prstGeom prst="rect">
            <a:avLst/>
          </a:prstGeom>
          <a:noFill/>
          <a:ln/>
        </p:spPr>
        <p:txBody>
          <a:bodyPr wrap="square" lIns="0" tIns="0" rIns="0" bIns="0" rtlCol="0" anchor="ctr"/>
          <a:lstStyle/>
          <a:p>
            <a:pPr marL="0" indent="0">
              <a:buNone/>
            </a:pPr>
            <a:r>
              <a:rPr lang="en-US" sz="1400" dirty="0">
                <a:solidFill>
                  <a:schemeClr val="tx1"/>
                </a:solidFill>
              </a:rPr>
              <a:t>Giữ nước của CNN, chỉ đổi khi một nước khác có điểm cao hơn hẳn, nên search chỉ can thiệp đúng chỗ quyết định.</a:t>
            </a:r>
            <a:endParaRPr lang="en-US" sz="1400" dirty="0"/>
          </a:p>
        </p:txBody>
      </p:sp>
      <p:sp>
        <p:nvSpPr>
          <p:cNvPr id="14" name="badge-123"/>
          <p:cNvSpPr/>
          <p:nvPr/>
        </p:nvSpPr>
        <p:spPr>
          <a:xfrm>
            <a:off x="6355080" y="3108960"/>
            <a:ext cx="457200" cy="457200"/>
          </a:xfrm>
          <a:prstGeom prst="ellipse">
            <a:avLst/>
          </a:prstGeom>
          <a:solidFill>
            <a:schemeClr val="accent6"/>
          </a:solidFill>
          <a:ln w="12700">
            <a:solidFill>
              <a:schemeClr val="accent6"/>
            </a:solidFill>
            <a:prstDash val="solid"/>
          </a:ln>
        </p:spPr>
      </p:sp>
      <p:sp>
        <p:nvSpPr>
          <p:cNvPr id="15" name="badge-text-124"/>
          <p:cNvSpPr txBox="1"/>
          <p:nvPr/>
        </p:nvSpPr>
        <p:spPr>
          <a:xfrm>
            <a:off x="6355080" y="31089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125"/>
          <p:cNvSpPr txBox="1"/>
          <p:nvPr/>
        </p:nvSpPr>
        <p:spPr>
          <a:xfrm>
            <a:off x="6995160" y="3063240"/>
            <a:ext cx="4645152" cy="822960"/>
          </a:xfrm>
          <a:prstGeom prst="rect">
            <a:avLst/>
          </a:prstGeom>
          <a:noFill/>
          <a:ln/>
        </p:spPr>
        <p:txBody>
          <a:bodyPr wrap="square" lIns="0" tIns="0" rIns="0" bIns="0" rtlCol="0" anchor="ctr"/>
          <a:lstStyle/>
          <a:p>
            <a:pPr marL="0" indent="0">
              <a:buNone/>
            </a:pPr>
            <a:r>
              <a:rPr lang="en-US" sz="1400" dirty="0">
                <a:solidFill>
                  <a:schemeClr val="tx1"/>
                </a:solidFill>
              </a:rPr>
              <a:t>Độ sâu 2 và 3 cho phép hai, ba nước tự do trước khi né; chỉ mở rộng khi nước ngắn hơn không giết được.</a:t>
            </a:r>
            <a:endParaRPr lang="en-US" sz="1400" dirty="0"/>
          </a:p>
        </p:txBody>
      </p:sp>
      <p:sp>
        <p:nvSpPr>
          <p:cNvPr id="17" name="card-126"/>
          <p:cNvSpPr/>
          <p:nvPr/>
        </p:nvSpPr>
        <p:spPr>
          <a:xfrm>
            <a:off x="6355080" y="4023360"/>
            <a:ext cx="5285232" cy="2331720"/>
          </a:xfrm>
          <a:prstGeom prst="roundRect">
            <a:avLst>
              <a:gd name="adj" fmla="val 3137"/>
            </a:avLst>
          </a:prstGeom>
          <a:solidFill>
            <a:schemeClr val="bg2"/>
          </a:solidFill>
          <a:ln w="12700">
            <a:solidFill>
              <a:schemeClr val="bg2"/>
            </a:solidFill>
            <a:prstDash val="solid"/>
          </a:ln>
        </p:spPr>
      </p:sp>
      <p:pic>
        <p:nvPicPr>
          <p:cNvPr id="18" name="formula-127" descr="Công thức C3"/>
          <p:cNvPicPr>
            <a:picLocks noChangeAspect="1"/>
          </p:cNvPicPr>
          <p:nvPr/>
        </p:nvPicPr>
        <p:blipFill>
          <a:blip r:embed="rId4"/>
          <a:stretch>
            <a:fillRect/>
          </a:stretch>
        </p:blipFill>
        <p:spPr>
          <a:xfrm>
            <a:off x="6556248" y="4224528"/>
            <a:ext cx="4882896" cy="526005"/>
          </a:xfrm>
          <a:prstGeom prst="rect">
            <a:avLst/>
          </a:prstGeom>
        </p:spPr>
      </p:pic>
      <p:sp>
        <p:nvSpPr>
          <p:cNvPr id="19" name="text-128"/>
          <p:cNvSpPr txBox="1"/>
          <p:nvPr/>
        </p:nvSpPr>
        <p:spPr>
          <a:xfrm>
            <a:off x="6556248" y="4878549"/>
            <a:ext cx="4882896" cy="1366803"/>
          </a:xfrm>
          <a:prstGeom prst="rect">
            <a:avLst/>
          </a:prstGeom>
          <a:noFill/>
          <a:ln/>
        </p:spPr>
        <p:txBody>
          <a:bodyPr wrap="square" lIns="0" tIns="0" rIns="0" bIns="0" rtlCol="0" anchor="t"/>
          <a:lstStyle/>
          <a:p>
            <a:pPr marL="0" indent="0">
              <a:spcAft>
                <a:spcPts val="400"/>
              </a:spcAft>
              <a:buNone/>
            </a:pPr>
            <a:r>
              <a:rPr lang="en-US" sz="1300" b="1" dirty="0">
                <a:solidFill>
                  <a:schemeClr val="accent4"/>
                </a:solidFill>
              </a:rPr>
              <a:t>Tác dụng: </a:t>
            </a:r>
            <a:r>
              <a:rPr lang="en-US" sz="1300" dirty="0">
                <a:solidFill>
                  <a:schemeClr val="tx1"/>
                </a:solidFill>
              </a:rPr>
              <a:t>điểm của một nước: +1 nếu bom của learner giết đối thủ khi learner còn sống, −1 nếu learner chết, 0 còn lại.</a:t>
            </a:r>
            <a:endParaRPr lang="en-US" sz="1300" dirty="0"/>
          </a:p>
          <a:p>
            <a:pPr marL="0" indent="0">
              <a:spcAft>
                <a:spcPts val="400"/>
              </a:spcAft>
              <a:buNone/>
            </a:pPr>
            <a:r>
              <a:rPr lang="en-US" sz="1300" b="1" dirty="0">
                <a:solidFill>
                  <a:schemeClr val="accent4"/>
                </a:solidFill>
              </a:rPr>
              <a:t>Lý do: </a:t>
            </a:r>
            <a:r>
              <a:rPr lang="en-US" sz="1300" dirty="0">
                <a:solidFill>
                  <a:schemeClr val="tx1"/>
                </a:solidFill>
              </a:rPr>
              <a:t>chỉ tính kill bằng bom của mình, nên search tối ưu đúng ActiveWR và không khuyến khích lối chơi thụ động.</a:t>
            </a:r>
            <a:endParaRPr lang="en-US" sz="13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Cùng một search, ba cách dùng, chỉ hai cách có tác dụng</a:t>
            </a:r>
            <a:endParaRPr lang="en-US" sz="3000" dirty="0"/>
          </a:p>
        </p:txBody>
      </p:sp>
      <p:sp>
        <p:nvSpPr>
          <p:cNvPr id="3" name="card-129"/>
          <p:cNvSpPr/>
          <p:nvPr/>
        </p:nvSpPr>
        <p:spPr>
          <a:xfrm>
            <a:off x="548640" y="1325880"/>
            <a:ext cx="3566160" cy="3154680"/>
          </a:xfrm>
          <a:prstGeom prst="roundRect">
            <a:avLst>
              <a:gd name="adj" fmla="val 2319"/>
            </a:avLst>
          </a:prstGeom>
          <a:solidFill>
            <a:schemeClr val="bg2"/>
          </a:solidFill>
          <a:ln w="12700">
            <a:solidFill>
              <a:schemeClr val="bg2"/>
            </a:solidFill>
            <a:prstDash val="solid"/>
          </a:ln>
        </p:spPr>
      </p:sp>
      <p:sp>
        <p:nvSpPr>
          <p:cNvPr id="4" name="text-130"/>
          <p:cNvSpPr txBox="1"/>
          <p:nvPr/>
        </p:nvSpPr>
        <p:spPr>
          <a:xfrm>
            <a:off x="777240" y="1508760"/>
            <a:ext cx="310896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Nhãn thưa trong RL</a:t>
            </a:r>
            <a:endParaRPr lang="en-US" sz="1800" dirty="0"/>
          </a:p>
        </p:txBody>
      </p:sp>
      <p:sp>
        <p:nvSpPr>
          <p:cNvPr id="5" name="text-131"/>
          <p:cNvSpPr txBox="1"/>
          <p:nvPr/>
        </p:nvSpPr>
        <p:spPr>
          <a:xfrm>
            <a:off x="777240" y="1965960"/>
            <a:ext cx="3108960" cy="868680"/>
          </a:xfrm>
          <a:prstGeom prst="rect">
            <a:avLst/>
          </a:prstGeom>
          <a:noFill/>
          <a:ln/>
        </p:spPr>
        <p:txBody>
          <a:bodyPr wrap="square" lIns="0" tIns="0" rIns="0" bIns="0" rtlCol="0" anchor="t"/>
          <a:lstStyle/>
          <a:p>
            <a:pPr marL="0" indent="0">
              <a:buNone/>
            </a:pPr>
            <a:r>
              <a:rPr lang="en-US" sz="5400" b="1" dirty="0">
                <a:solidFill>
                  <a:schemeClr val="accent5"/>
                </a:solidFill>
                <a:latin typeface="+mj-lt" pitchFamily="34" charset="0"/>
                <a:ea typeface="+mj-lt" pitchFamily="34" charset="-122"/>
                <a:cs typeface="+mj-lt" pitchFamily="34" charset="-120"/>
              </a:rPr>
              <a:t>−2.75</a:t>
            </a:r>
            <a:endParaRPr lang="en-US" sz="5400" dirty="0"/>
          </a:p>
        </p:txBody>
      </p:sp>
      <p:sp>
        <p:nvSpPr>
          <p:cNvPr id="6" name="text-132"/>
          <p:cNvSpPr txBox="1"/>
          <p:nvPr/>
        </p:nvSpPr>
        <p:spPr>
          <a:xfrm>
            <a:off x="777240" y="2834640"/>
            <a:ext cx="3108960" cy="274320"/>
          </a:xfrm>
          <a:prstGeom prst="rect">
            <a:avLst/>
          </a:prstGeom>
          <a:noFill/>
          <a:ln/>
        </p:spPr>
        <p:txBody>
          <a:bodyPr wrap="square" lIns="0" tIns="0" rIns="0" bIns="0" rtlCol="0" anchor="t"/>
          <a:lstStyle/>
          <a:p>
            <a:pPr marL="0" indent="0">
              <a:buNone/>
            </a:pPr>
            <a:r>
              <a:rPr lang="en-US" sz="1400" dirty="0">
                <a:solidFill>
                  <a:schemeClr val="accent5"/>
                </a:solidFill>
              </a:rPr>
              <a:t>CI95 [−9.75, +4.0]</a:t>
            </a:r>
            <a:endParaRPr lang="en-US" sz="1400" dirty="0"/>
          </a:p>
        </p:txBody>
      </p:sp>
      <p:sp>
        <p:nvSpPr>
          <p:cNvPr id="7" name="text-133"/>
          <p:cNvSpPr txBox="1"/>
          <p:nvPr/>
        </p:nvSpPr>
        <p:spPr>
          <a:xfrm>
            <a:off x="777240" y="3200400"/>
            <a:ext cx="3108960" cy="868680"/>
          </a:xfrm>
          <a:prstGeom prst="rect">
            <a:avLst/>
          </a:prstGeom>
          <a:noFill/>
          <a:ln/>
        </p:spPr>
        <p:txBody>
          <a:bodyPr wrap="square" lIns="0" tIns="0" rIns="0" bIns="0" rtlCol="0" anchor="t"/>
          <a:lstStyle/>
          <a:p>
            <a:pPr marL="0" indent="0">
              <a:buNone/>
            </a:pPr>
            <a:r>
              <a:rPr lang="en-US" sz="1400" dirty="0">
                <a:solidFill>
                  <a:schemeClr val="tx1"/>
                </a:solidFill>
              </a:rPr>
              <a:t>≈ 0.9 nhãn mỗi episode, mỗi nhãn dùng một lần. Seed 42000, 3000 episode, so với F.</a:t>
            </a:r>
            <a:endParaRPr lang="en-US" sz="1400" dirty="0"/>
          </a:p>
        </p:txBody>
      </p:sp>
      <p:sp>
        <p:nvSpPr>
          <p:cNvPr id="8" name="text-134"/>
          <p:cNvSpPr txBox="1"/>
          <p:nvPr/>
        </p:nvSpPr>
        <p:spPr>
          <a:xfrm>
            <a:off x="777240" y="4069080"/>
            <a:ext cx="3108960" cy="274320"/>
          </a:xfrm>
          <a:prstGeom prst="rect">
            <a:avLst/>
          </a:prstGeom>
          <a:noFill/>
          <a:ln/>
        </p:spPr>
        <p:txBody>
          <a:bodyPr wrap="square" lIns="0" tIns="0" rIns="0" bIns="0" rtlCol="0" anchor="t"/>
          <a:lstStyle/>
          <a:p>
            <a:pPr marL="0" indent="0">
              <a:buNone/>
            </a:pPr>
            <a:r>
              <a:rPr lang="en-US" sz="1400" b="1" dirty="0">
                <a:solidFill>
                  <a:schemeClr val="accent5"/>
                </a:solidFill>
              </a:rPr>
              <a:t>Không qua gate</a:t>
            </a:r>
            <a:endParaRPr lang="en-US" sz="1400" dirty="0"/>
          </a:p>
        </p:txBody>
      </p:sp>
      <p:sp>
        <p:nvSpPr>
          <p:cNvPr id="9" name="card-135"/>
          <p:cNvSpPr/>
          <p:nvPr/>
        </p:nvSpPr>
        <p:spPr>
          <a:xfrm>
            <a:off x="4311396" y="1325880"/>
            <a:ext cx="3566160" cy="3154680"/>
          </a:xfrm>
          <a:prstGeom prst="roundRect">
            <a:avLst>
              <a:gd name="adj" fmla="val 2319"/>
            </a:avLst>
          </a:prstGeom>
          <a:solidFill>
            <a:schemeClr val="bg2"/>
          </a:solidFill>
          <a:ln w="12700">
            <a:solidFill>
              <a:schemeClr val="bg2"/>
            </a:solidFill>
            <a:prstDash val="solid"/>
          </a:ln>
        </p:spPr>
      </p:sp>
      <p:sp>
        <p:nvSpPr>
          <p:cNvPr id="10" name="text-136"/>
          <p:cNvSpPr txBox="1"/>
          <p:nvPr/>
        </p:nvSpPr>
        <p:spPr>
          <a:xfrm>
            <a:off x="4539996" y="1508760"/>
            <a:ext cx="310896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Search lúc chơi</a:t>
            </a:r>
            <a:endParaRPr lang="en-US" sz="1800" dirty="0"/>
          </a:p>
        </p:txBody>
      </p:sp>
      <p:sp>
        <p:nvSpPr>
          <p:cNvPr id="11" name="text-137"/>
          <p:cNvSpPr txBox="1"/>
          <p:nvPr/>
        </p:nvSpPr>
        <p:spPr>
          <a:xfrm>
            <a:off x="4539996" y="1965960"/>
            <a:ext cx="3108960" cy="868680"/>
          </a:xfrm>
          <a:prstGeom prst="rect">
            <a:avLst/>
          </a:prstGeom>
          <a:noFill/>
          <a:ln/>
        </p:spPr>
        <p:txBody>
          <a:bodyPr wrap="square" lIns="0" tIns="0" rIns="0" bIns="0" rtlCol="0" anchor="t"/>
          <a:lstStyle/>
          <a:p>
            <a:pPr marL="0" indent="0">
              <a:buNone/>
            </a:pPr>
            <a:r>
              <a:rPr lang="en-US" sz="5400" b="1" dirty="0">
                <a:solidFill>
                  <a:schemeClr val="accent6"/>
                </a:solidFill>
                <a:latin typeface="+mj-lt" pitchFamily="34" charset="0"/>
                <a:ea typeface="+mj-lt" pitchFamily="34" charset="-122"/>
                <a:cs typeface="+mj-lt" pitchFamily="34" charset="-120"/>
              </a:rPr>
              <a:t>+16.5</a:t>
            </a:r>
            <a:endParaRPr lang="en-US" sz="5400" dirty="0"/>
          </a:p>
        </p:txBody>
      </p:sp>
      <p:sp>
        <p:nvSpPr>
          <p:cNvPr id="12" name="text-138"/>
          <p:cNvSpPr txBox="1"/>
          <p:nvPr/>
        </p:nvSpPr>
        <p:spPr>
          <a:xfrm>
            <a:off x="4539996" y="2834640"/>
            <a:ext cx="3108960" cy="274320"/>
          </a:xfrm>
          <a:prstGeom prst="rect">
            <a:avLst/>
          </a:prstGeom>
          <a:noFill/>
          <a:ln/>
        </p:spPr>
        <p:txBody>
          <a:bodyPr wrap="square" lIns="0" tIns="0" rIns="0" bIns="0" rtlCol="0" anchor="t"/>
          <a:lstStyle/>
          <a:p>
            <a:pPr marL="0" indent="0">
              <a:buNone/>
            </a:pPr>
            <a:r>
              <a:rPr lang="en-US" sz="1400" dirty="0">
                <a:solidFill>
                  <a:schemeClr val="accent5"/>
                </a:solidFill>
              </a:rPr>
              <a:t>CI95 [+12.5, +20.5]</a:t>
            </a:r>
            <a:endParaRPr lang="en-US" sz="1400" dirty="0"/>
          </a:p>
        </p:txBody>
      </p:sp>
      <p:sp>
        <p:nvSpPr>
          <p:cNvPr id="13" name="text-139"/>
          <p:cNvSpPr txBox="1"/>
          <p:nvPr/>
        </p:nvSpPr>
        <p:spPr>
          <a:xfrm>
            <a:off x="4539996" y="3200400"/>
            <a:ext cx="3108960" cy="868680"/>
          </a:xfrm>
          <a:prstGeom prst="rect">
            <a:avLst/>
          </a:prstGeom>
          <a:noFill/>
          <a:ln/>
        </p:spPr>
        <p:txBody>
          <a:bodyPr wrap="square" lIns="0" tIns="0" rIns="0" bIns="0" rtlCol="0" anchor="t"/>
          <a:lstStyle/>
          <a:p>
            <a:pPr marL="0" indent="0">
              <a:buNone/>
            </a:pPr>
            <a:r>
              <a:rPr lang="en-US" sz="1400" dirty="0">
                <a:solidFill>
                  <a:schemeClr val="tx1"/>
                </a:solidFill>
              </a:rPr>
              <a:t>G+s1 − G, seed 46000. Search chỉ đổi nước ở chỗ quyết định, nhưng mỗi nước tốn 213 ms ở độ sâu 3.</a:t>
            </a:r>
            <a:endParaRPr lang="en-US" sz="1400" dirty="0"/>
          </a:p>
        </p:txBody>
      </p:sp>
      <p:sp>
        <p:nvSpPr>
          <p:cNvPr id="14" name="text-140"/>
          <p:cNvSpPr txBox="1"/>
          <p:nvPr/>
        </p:nvSpPr>
        <p:spPr>
          <a:xfrm>
            <a:off x="4539996" y="4069080"/>
            <a:ext cx="3108960" cy="274320"/>
          </a:xfrm>
          <a:prstGeom prst="rect">
            <a:avLst/>
          </a:prstGeom>
          <a:noFill/>
          <a:ln/>
        </p:spPr>
        <p:txBody>
          <a:bodyPr wrap="square" lIns="0" tIns="0" rIns="0" bIns="0" rtlCol="0" anchor="t"/>
          <a:lstStyle/>
          <a:p>
            <a:pPr marL="0" indent="0">
              <a:buNone/>
            </a:pPr>
            <a:r>
              <a:rPr lang="en-US" sz="1400" b="1" dirty="0">
                <a:solidFill>
                  <a:schemeClr val="accent6"/>
                </a:solidFill>
              </a:rPr>
              <a:t>Qua gate</a:t>
            </a:r>
            <a:endParaRPr lang="en-US" sz="1400" dirty="0"/>
          </a:p>
        </p:txBody>
      </p:sp>
      <p:sp>
        <p:nvSpPr>
          <p:cNvPr id="15" name="card-141"/>
          <p:cNvSpPr/>
          <p:nvPr/>
        </p:nvSpPr>
        <p:spPr>
          <a:xfrm>
            <a:off x="8074152" y="1325880"/>
            <a:ext cx="3566160" cy="3154680"/>
          </a:xfrm>
          <a:prstGeom prst="roundRect">
            <a:avLst>
              <a:gd name="adj" fmla="val 2319"/>
            </a:avLst>
          </a:prstGeom>
          <a:solidFill>
            <a:schemeClr val="bg2"/>
          </a:solidFill>
          <a:ln w="12700">
            <a:solidFill>
              <a:schemeClr val="bg2"/>
            </a:solidFill>
            <a:prstDash val="solid"/>
          </a:ln>
        </p:spPr>
      </p:sp>
      <p:sp>
        <p:nvSpPr>
          <p:cNvPr id="16" name="text-142"/>
          <p:cNvSpPr txBox="1"/>
          <p:nvPr/>
        </p:nvSpPr>
        <p:spPr>
          <a:xfrm>
            <a:off x="8302752" y="1508760"/>
            <a:ext cx="310896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Chưng cất dày</a:t>
            </a:r>
            <a:endParaRPr lang="en-US" sz="1800" dirty="0"/>
          </a:p>
        </p:txBody>
      </p:sp>
      <p:sp>
        <p:nvSpPr>
          <p:cNvPr id="17" name="text-143"/>
          <p:cNvSpPr txBox="1"/>
          <p:nvPr/>
        </p:nvSpPr>
        <p:spPr>
          <a:xfrm>
            <a:off x="8302752" y="1965960"/>
            <a:ext cx="3108960" cy="868680"/>
          </a:xfrm>
          <a:prstGeom prst="rect">
            <a:avLst/>
          </a:prstGeom>
          <a:noFill/>
          <a:ln/>
        </p:spPr>
        <p:txBody>
          <a:bodyPr wrap="square" lIns="0" tIns="0" rIns="0" bIns="0" rtlCol="0" anchor="t"/>
          <a:lstStyle/>
          <a:p>
            <a:pPr marL="0" indent="0">
              <a:buNone/>
            </a:pPr>
            <a:r>
              <a:rPr lang="en-US" sz="5400" b="1" dirty="0">
                <a:solidFill>
                  <a:schemeClr val="accent4"/>
                </a:solidFill>
                <a:latin typeface="+mj-lt" pitchFamily="34" charset="0"/>
                <a:ea typeface="+mj-lt" pitchFamily="34" charset="-122"/>
                <a:cs typeface="+mj-lt" pitchFamily="34" charset="-120"/>
              </a:rPr>
              <a:t>+16.25</a:t>
            </a:r>
            <a:endParaRPr lang="en-US" sz="5400" dirty="0"/>
          </a:p>
        </p:txBody>
      </p:sp>
      <p:sp>
        <p:nvSpPr>
          <p:cNvPr id="18" name="text-144"/>
          <p:cNvSpPr txBox="1"/>
          <p:nvPr/>
        </p:nvSpPr>
        <p:spPr>
          <a:xfrm>
            <a:off x="8302752" y="2834640"/>
            <a:ext cx="3108960" cy="274320"/>
          </a:xfrm>
          <a:prstGeom prst="rect">
            <a:avLst/>
          </a:prstGeom>
          <a:noFill/>
          <a:ln/>
        </p:spPr>
        <p:txBody>
          <a:bodyPr wrap="square" lIns="0" tIns="0" rIns="0" bIns="0" rtlCol="0" anchor="t"/>
          <a:lstStyle/>
          <a:p>
            <a:pPr marL="0" indent="0">
              <a:buNone/>
            </a:pPr>
            <a:r>
              <a:rPr lang="en-US" sz="1400" dirty="0">
                <a:solidFill>
                  <a:schemeClr val="accent5"/>
                </a:solidFill>
              </a:rPr>
              <a:t>CI95 [+9.75, +22.5]</a:t>
            </a:r>
            <a:endParaRPr lang="en-US" sz="1400" dirty="0"/>
          </a:p>
        </p:txBody>
      </p:sp>
      <p:sp>
        <p:nvSpPr>
          <p:cNvPr id="19" name="text-145"/>
          <p:cNvSpPr txBox="1"/>
          <p:nvPr/>
        </p:nvSpPr>
        <p:spPr>
          <a:xfrm>
            <a:off x="8302752" y="3200400"/>
            <a:ext cx="3108960" cy="868680"/>
          </a:xfrm>
          <a:prstGeom prst="rect">
            <a:avLst/>
          </a:prstGeom>
          <a:noFill/>
          <a:ln/>
        </p:spPr>
        <p:txBody>
          <a:bodyPr wrap="square" lIns="0" tIns="0" rIns="0" bIns="0" rtlCol="0" anchor="t"/>
          <a:lstStyle/>
          <a:p>
            <a:pPr marL="0" indent="0">
              <a:buNone/>
            </a:pPr>
            <a:r>
              <a:rPr lang="en-US" sz="1400" dirty="0">
                <a:solidFill>
                  <a:schemeClr val="tx1"/>
                </a:solidFill>
              </a:rPr>
              <a:t>S − F, seed 43000. ~6,200 trạng thái quyết định có cả ví dụ ngược, 8 epoch, không cần search lúc chơi.</a:t>
            </a:r>
            <a:endParaRPr lang="en-US" sz="1400" dirty="0"/>
          </a:p>
        </p:txBody>
      </p:sp>
      <p:sp>
        <p:nvSpPr>
          <p:cNvPr id="20" name="text-146"/>
          <p:cNvSpPr txBox="1"/>
          <p:nvPr/>
        </p:nvSpPr>
        <p:spPr>
          <a:xfrm>
            <a:off x="8302752" y="4069080"/>
            <a:ext cx="3108960" cy="274320"/>
          </a:xfrm>
          <a:prstGeom prst="rect">
            <a:avLst/>
          </a:prstGeom>
          <a:noFill/>
          <a:ln/>
        </p:spPr>
        <p:txBody>
          <a:bodyPr wrap="square" lIns="0" tIns="0" rIns="0" bIns="0" rtlCol="0" anchor="t"/>
          <a:lstStyle/>
          <a:p>
            <a:pPr marL="0" indent="0">
              <a:buNone/>
            </a:pPr>
            <a:r>
              <a:rPr lang="en-US" sz="1400" b="1" dirty="0">
                <a:solidFill>
                  <a:schemeClr val="accent4"/>
                </a:solidFill>
              </a:rPr>
              <a:t>Qua gate</a:t>
            </a:r>
            <a:endParaRPr lang="en-US" sz="1400" dirty="0"/>
          </a:p>
        </p:txBody>
      </p:sp>
      <p:sp>
        <p:nvSpPr>
          <p:cNvPr id="21" name="card-147"/>
          <p:cNvSpPr/>
          <p:nvPr/>
        </p:nvSpPr>
        <p:spPr>
          <a:xfrm>
            <a:off x="548640" y="4663440"/>
            <a:ext cx="11091672" cy="1691640"/>
          </a:xfrm>
          <a:prstGeom prst="roundRect">
            <a:avLst>
              <a:gd name="adj" fmla="val 4324"/>
            </a:avLst>
          </a:prstGeom>
          <a:solidFill>
            <a:schemeClr val="bg2"/>
          </a:solidFill>
          <a:ln w="12700">
            <a:solidFill>
              <a:schemeClr val="bg2"/>
            </a:solidFill>
            <a:prstDash val="solid"/>
          </a:ln>
        </p:spPr>
      </p:sp>
      <p:sp>
        <p:nvSpPr>
          <p:cNvPr id="22" name="text-148"/>
          <p:cNvSpPr txBox="1"/>
          <p:nvPr/>
        </p:nvSpPr>
        <p:spPr>
          <a:xfrm>
            <a:off x="777240" y="4754880"/>
            <a:ext cx="10634472" cy="36576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Vì sao chưng cất dày thắng nhãn thưa: học được điều kiện "chỉ BOMB mới giết ở đây"</a:t>
            </a:r>
            <a:endParaRPr lang="en-US" sz="1600" dirty="0"/>
          </a:p>
        </p:txBody>
      </p:sp>
      <p:sp>
        <p:nvSpPr>
          <p:cNvPr id="23" name="text-149"/>
          <p:cNvSpPr txBox="1"/>
          <p:nvPr/>
        </p:nvSpPr>
        <p:spPr>
          <a:xfrm>
            <a:off x="777240" y="5212080"/>
            <a:ext cx="3383280" cy="411480"/>
          </a:xfrm>
          <a:prstGeom prst="rect">
            <a:avLst/>
          </a:prstGeom>
          <a:noFill/>
          <a:ln/>
        </p:spPr>
        <p:txBody>
          <a:bodyPr wrap="square" lIns="0" tIns="0" rIns="0" bIns="0" rtlCol="0" anchor="t"/>
          <a:lstStyle/>
          <a:p>
            <a:pPr marL="0" indent="0">
              <a:buNone/>
            </a:pPr>
            <a:r>
              <a:rPr lang="en-US" sz="2400" b="1" dirty="0">
                <a:solidFill>
                  <a:schemeClr val="accent4"/>
                </a:solidFill>
                <a:latin typeface="+mj-lt" pitchFamily="34" charset="0"/>
                <a:ea typeface="+mj-lt" pitchFamily="34" charset="-122"/>
                <a:cs typeface="+mj-lt" pitchFamily="34" charset="-120"/>
              </a:rPr>
              <a:t>0.52 → 0.91</a:t>
            </a:r>
            <a:endParaRPr lang="en-US" sz="2400" dirty="0"/>
          </a:p>
        </p:txBody>
      </p:sp>
      <p:sp>
        <p:nvSpPr>
          <p:cNvPr id="24" name="text-150"/>
          <p:cNvSpPr txBox="1"/>
          <p:nvPr/>
        </p:nvSpPr>
        <p:spPr>
          <a:xfrm>
            <a:off x="777240" y="5669280"/>
            <a:ext cx="3291840" cy="640080"/>
          </a:xfrm>
          <a:prstGeom prst="rect">
            <a:avLst/>
          </a:prstGeom>
          <a:noFill/>
          <a:ln/>
        </p:spPr>
        <p:txBody>
          <a:bodyPr wrap="square" lIns="0" tIns="0" rIns="0" bIns="0" rtlCol="0" anchor="t"/>
          <a:lstStyle/>
          <a:p>
            <a:pPr marL="0" indent="0">
              <a:buNone/>
            </a:pPr>
            <a:r>
              <a:rPr lang="en-US" sz="1300" dirty="0">
                <a:solidFill>
                  <a:schemeClr val="tx1"/>
                </a:solidFill>
              </a:rPr>
              <a:t>xác suất nước tốt nhất ở trạng thái quyết định held-out</a:t>
            </a:r>
            <a:endParaRPr lang="en-US" sz="1300" dirty="0"/>
          </a:p>
        </p:txBody>
      </p:sp>
      <p:sp>
        <p:nvSpPr>
          <p:cNvPr id="25" name="text-151"/>
          <p:cNvSpPr txBox="1"/>
          <p:nvPr/>
        </p:nvSpPr>
        <p:spPr>
          <a:xfrm>
            <a:off x="4434840" y="5212080"/>
            <a:ext cx="3383280" cy="411480"/>
          </a:xfrm>
          <a:prstGeom prst="rect">
            <a:avLst/>
          </a:prstGeom>
          <a:noFill/>
          <a:ln/>
        </p:spPr>
        <p:txBody>
          <a:bodyPr wrap="square" lIns="0" tIns="0" rIns="0" bIns="0" rtlCol="0" anchor="t"/>
          <a:lstStyle/>
          <a:p>
            <a:pPr marL="0" indent="0">
              <a:buNone/>
            </a:pPr>
            <a:r>
              <a:rPr lang="en-US" sz="2400" b="1" dirty="0">
                <a:solidFill>
                  <a:schemeClr val="accent4"/>
                </a:solidFill>
                <a:latin typeface="+mj-lt" pitchFamily="34" charset="0"/>
                <a:ea typeface="+mj-lt" pitchFamily="34" charset="-122"/>
                <a:cs typeface="+mj-lt" pitchFamily="34" charset="-120"/>
              </a:rPr>
              <a:t>0.28 → 0.93</a:t>
            </a:r>
            <a:endParaRPr lang="en-US" sz="2400" dirty="0"/>
          </a:p>
        </p:txBody>
      </p:sp>
      <p:sp>
        <p:nvSpPr>
          <p:cNvPr id="26" name="text-152"/>
          <p:cNvSpPr txBox="1"/>
          <p:nvPr/>
        </p:nvSpPr>
        <p:spPr>
          <a:xfrm>
            <a:off x="4434840" y="5669280"/>
            <a:ext cx="3291840" cy="640080"/>
          </a:xfrm>
          <a:prstGeom prst="rect">
            <a:avLst/>
          </a:prstGeom>
          <a:noFill/>
          <a:ln/>
        </p:spPr>
        <p:txBody>
          <a:bodyPr wrap="square" lIns="0" tIns="0" rIns="0" bIns="0" rtlCol="0" anchor="t"/>
          <a:lstStyle/>
          <a:p>
            <a:pPr marL="0" indent="0">
              <a:buNone/>
            </a:pPr>
            <a:r>
              <a:rPr lang="en-US" sz="1300" dirty="0">
                <a:solidFill>
                  <a:schemeClr val="tx1"/>
                </a:solidFill>
              </a:rPr>
              <a:t>khi learner phải đứng giữ ô cửa thoát của đối thủ</a:t>
            </a:r>
            <a:endParaRPr lang="en-US" sz="1300" dirty="0"/>
          </a:p>
        </p:txBody>
      </p:sp>
      <p:sp>
        <p:nvSpPr>
          <p:cNvPr id="27" name="text-153"/>
          <p:cNvSpPr txBox="1"/>
          <p:nvPr/>
        </p:nvSpPr>
        <p:spPr>
          <a:xfrm>
            <a:off x="8092440" y="5212080"/>
            <a:ext cx="3383280" cy="411480"/>
          </a:xfrm>
          <a:prstGeom prst="rect">
            <a:avLst/>
          </a:prstGeom>
          <a:noFill/>
          <a:ln/>
        </p:spPr>
        <p:txBody>
          <a:bodyPr wrap="square" lIns="0" tIns="0" rIns="0" bIns="0" rtlCol="0" anchor="t"/>
          <a:lstStyle/>
          <a:p>
            <a:pPr marL="0" indent="0">
              <a:buNone/>
            </a:pPr>
            <a:r>
              <a:rPr lang="en-US" sz="2400" b="1" dirty="0">
                <a:solidFill>
                  <a:schemeClr val="accent4"/>
                </a:solidFill>
                <a:latin typeface="+mj-lt" pitchFamily="34" charset="0"/>
                <a:ea typeface="+mj-lt" pitchFamily="34" charset="-122"/>
                <a:cs typeface="+mj-lt" pitchFamily="34" charset="-120"/>
              </a:rPr>
              <a:t>0.088 → 0.095</a:t>
            </a:r>
            <a:endParaRPr lang="en-US" sz="2400" dirty="0"/>
          </a:p>
        </p:txBody>
      </p:sp>
      <p:sp>
        <p:nvSpPr>
          <p:cNvPr id="28" name="text-154"/>
          <p:cNvSpPr txBox="1"/>
          <p:nvPr/>
        </p:nvSpPr>
        <p:spPr>
          <a:xfrm>
            <a:off x="8092440" y="5669280"/>
            <a:ext cx="3291840" cy="640080"/>
          </a:xfrm>
          <a:prstGeom prst="rect">
            <a:avLst/>
          </a:prstGeom>
          <a:noFill/>
          <a:ln/>
        </p:spPr>
        <p:txBody>
          <a:bodyPr wrap="square" lIns="0" tIns="0" rIns="0" bIns="0" rtlCol="0" anchor="t"/>
          <a:lstStyle/>
          <a:p>
            <a:pPr marL="0" indent="0">
              <a:buNone/>
            </a:pPr>
            <a:r>
              <a:rPr lang="en-US" sz="1300" dirty="0">
                <a:solidFill>
                  <a:schemeClr val="tx1"/>
                </a:solidFill>
              </a:rPr>
              <a:t>P(BOMB) ở trạng thái thường gần như không đổi: không đặt bom bừa</a:t>
            </a:r>
            <a:endParaRPr lang="en-US" sz="1300" dirty="0"/>
          </a:p>
        </p:txBody>
      </p:sp>
      <p:sp>
        <p:nvSpPr>
          <p:cNvPr id="29"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Chưng cất dày: học nhãn mềm của thầy, neo KL để không quên</a:t>
            </a:r>
            <a:endParaRPr lang="en-US" sz="3000" dirty="0"/>
          </a:p>
        </p:txBody>
      </p:sp>
      <p:sp>
        <p:nvSpPr>
          <p:cNvPr id="3" name="card-155"/>
          <p:cNvSpPr/>
          <p:nvPr/>
        </p:nvSpPr>
        <p:spPr>
          <a:xfrm>
            <a:off x="548640" y="1325880"/>
            <a:ext cx="5852160" cy="2240280"/>
          </a:xfrm>
          <a:prstGeom prst="roundRect">
            <a:avLst>
              <a:gd name="adj" fmla="val 3265"/>
            </a:avLst>
          </a:prstGeom>
          <a:solidFill>
            <a:schemeClr val="bg2"/>
          </a:solidFill>
          <a:ln w="12700">
            <a:solidFill>
              <a:schemeClr val="bg2"/>
            </a:solidFill>
            <a:prstDash val="solid"/>
          </a:ln>
        </p:spPr>
      </p:sp>
      <p:pic>
        <p:nvPicPr>
          <p:cNvPr id="4" name="formula-156" descr="Công thức C1"/>
          <p:cNvPicPr>
            <a:picLocks noChangeAspect="1"/>
          </p:cNvPicPr>
          <p:nvPr/>
        </p:nvPicPr>
        <p:blipFill>
          <a:blip r:embed="rId3"/>
          <a:stretch>
            <a:fillRect/>
          </a:stretch>
        </p:blipFill>
        <p:spPr>
          <a:xfrm>
            <a:off x="749808" y="1527048"/>
            <a:ext cx="5449824" cy="701793"/>
          </a:xfrm>
          <a:prstGeom prst="rect">
            <a:avLst/>
          </a:prstGeom>
        </p:spPr>
      </p:pic>
      <p:sp>
        <p:nvSpPr>
          <p:cNvPr id="5" name="text-157"/>
          <p:cNvSpPr txBox="1"/>
          <p:nvPr/>
        </p:nvSpPr>
        <p:spPr>
          <a:xfrm>
            <a:off x="749808" y="2356857"/>
            <a:ext cx="5449824" cy="1099575"/>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Tác dụng: </a:t>
            </a:r>
            <a:r>
              <a:rPr lang="en-US" sz="1400" dirty="0">
                <a:solidFill>
                  <a:schemeClr val="tx1"/>
                </a:solidFill>
              </a:rPr>
              <a:t>thầy chấm điểm v(a) mọi nước; mục tiêu q chia đều xác suất cho các nước đồng hạng tốt nhất B(s).</a:t>
            </a:r>
            <a:endParaRPr lang="en-US" sz="1400" dirty="0"/>
          </a:p>
          <a:p>
            <a:pPr marL="0" indent="0">
              <a:spcAft>
                <a:spcPts val="400"/>
              </a:spcAft>
              <a:buNone/>
            </a:pPr>
            <a:r>
              <a:rPr lang="en-US" sz="1400" b="1" dirty="0">
                <a:solidFill>
                  <a:schemeClr val="accent4"/>
                </a:solidFill>
              </a:rPr>
              <a:t>Lý do: </a:t>
            </a:r>
            <a:r>
              <a:rPr lang="en-US" sz="1400" dirty="0">
                <a:solidFill>
                  <a:schemeClr val="tx1"/>
                </a:solidFill>
              </a:rPr>
              <a:t>nhãn mềm giữ đồng hạng, không ép CNN chọn một nước tuỳ ý.</a:t>
            </a:r>
            <a:endParaRPr lang="en-US" sz="1400" dirty="0"/>
          </a:p>
        </p:txBody>
      </p:sp>
      <p:sp>
        <p:nvSpPr>
          <p:cNvPr id="6" name="card-158"/>
          <p:cNvSpPr/>
          <p:nvPr/>
        </p:nvSpPr>
        <p:spPr>
          <a:xfrm>
            <a:off x="548640" y="3703320"/>
            <a:ext cx="5852160" cy="2651760"/>
          </a:xfrm>
          <a:prstGeom prst="roundRect">
            <a:avLst>
              <a:gd name="adj" fmla="val 2759"/>
            </a:avLst>
          </a:prstGeom>
          <a:solidFill>
            <a:schemeClr val="bg2"/>
          </a:solidFill>
          <a:ln w="12700">
            <a:solidFill>
              <a:schemeClr val="bg2"/>
            </a:solidFill>
            <a:prstDash val="solid"/>
          </a:ln>
        </p:spPr>
      </p:sp>
      <p:pic>
        <p:nvPicPr>
          <p:cNvPr id="7" name="formula-159" descr="Công thức C2"/>
          <p:cNvPicPr>
            <a:picLocks noChangeAspect="1"/>
          </p:cNvPicPr>
          <p:nvPr/>
        </p:nvPicPr>
        <p:blipFill>
          <a:blip r:embed="rId4"/>
          <a:stretch>
            <a:fillRect/>
          </a:stretch>
        </p:blipFill>
        <p:spPr>
          <a:xfrm>
            <a:off x="749808" y="3904488"/>
            <a:ext cx="4389943" cy="1212494"/>
          </a:xfrm>
          <a:prstGeom prst="rect">
            <a:avLst/>
          </a:prstGeom>
        </p:spPr>
      </p:pic>
      <p:sp>
        <p:nvSpPr>
          <p:cNvPr id="8" name="text-160"/>
          <p:cNvSpPr txBox="1"/>
          <p:nvPr/>
        </p:nvSpPr>
        <p:spPr>
          <a:xfrm>
            <a:off x="749808" y="5244998"/>
            <a:ext cx="5449824" cy="1000354"/>
          </a:xfrm>
          <a:prstGeom prst="rect">
            <a:avLst/>
          </a:prstGeom>
          <a:noFill/>
          <a:ln/>
        </p:spPr>
        <p:txBody>
          <a:bodyPr wrap="square" lIns="0" tIns="0" rIns="0" bIns="0" rtlCol="0" anchor="t"/>
          <a:lstStyle/>
          <a:p>
            <a:pPr marL="0" indent="0">
              <a:spcAft>
                <a:spcPts val="400"/>
              </a:spcAft>
              <a:buNone/>
            </a:pPr>
            <a:r>
              <a:rPr lang="en-US" sz="1400" b="1" dirty="0">
                <a:solidFill>
                  <a:schemeClr val="accent4"/>
                </a:solidFill>
              </a:rPr>
              <a:t>Tác dụng: </a:t>
            </a:r>
            <a:r>
              <a:rPr lang="en-US" sz="1400" dirty="0">
                <a:solidFill>
                  <a:schemeClr val="tx1"/>
                </a:solidFill>
              </a:rPr>
              <a:t>số hạng đầu: cross-entropy tới q trên trạng thái quyết định. Số hạng sau: KL kéo về policy gốc trên 5% trạng thái thường (anchor), λ = 1.</a:t>
            </a:r>
            <a:endParaRPr lang="en-US" sz="1400" dirty="0"/>
          </a:p>
          <a:p>
            <a:pPr marL="0" indent="0">
              <a:spcAft>
                <a:spcPts val="400"/>
              </a:spcAft>
              <a:buNone/>
            </a:pPr>
            <a:r>
              <a:rPr lang="en-US" sz="1400" b="1" dirty="0">
                <a:solidFill>
                  <a:schemeClr val="accent4"/>
                </a:solidFill>
              </a:rPr>
              <a:t>Lý do: </a:t>
            </a:r>
            <a:r>
              <a:rPr lang="en-US" sz="1400" dirty="0">
                <a:solidFill>
                  <a:schemeClr val="tx1"/>
                </a:solidFill>
              </a:rPr>
              <a:t>ví dụ ngược dạy điều kiện đặt bom; KL chống quên kỹ năng cũ.</a:t>
            </a:r>
            <a:endParaRPr lang="en-US" sz="1400" dirty="0"/>
          </a:p>
        </p:txBody>
      </p:sp>
      <p:pic>
        <p:nvPicPr>
          <p:cNvPr id="9" name="img-161" descr="Loss, độ khớp với thầy, KL và ActiveWR validation qua các epoch của ba vòng chưng cất"/>
          <p:cNvPicPr>
            <a:picLocks noChangeAspect="1"/>
          </p:cNvPicPr>
          <p:nvPr/>
        </p:nvPicPr>
        <p:blipFill>
          <a:blip r:embed="rId5"/>
          <a:stretch>
            <a:fillRect/>
          </a:stretch>
        </p:blipFill>
        <p:spPr>
          <a:xfrm>
            <a:off x="6675120" y="1325880"/>
            <a:ext cx="4965192" cy="2865625"/>
          </a:xfrm>
          <a:prstGeom prst="rect">
            <a:avLst/>
          </a:prstGeom>
        </p:spPr>
      </p:pic>
      <p:sp>
        <p:nvSpPr>
          <p:cNvPr id="10" name="text-162"/>
          <p:cNvSpPr txBox="1"/>
          <p:nvPr/>
        </p:nvSpPr>
        <p:spPr>
          <a:xfrm>
            <a:off x="6675120" y="4237225"/>
            <a:ext cx="4965192" cy="457200"/>
          </a:xfrm>
          <a:prstGeom prst="rect">
            <a:avLst/>
          </a:prstGeom>
          <a:noFill/>
          <a:ln/>
        </p:spPr>
        <p:txBody>
          <a:bodyPr wrap="square" lIns="0" tIns="0" rIns="0" bIns="0" rtlCol="0" anchor="t"/>
          <a:lstStyle/>
          <a:p>
            <a:pPr marL="0" indent="0">
              <a:buNone/>
            </a:pPr>
            <a:r>
              <a:rPr lang="en-US" sz="1200" dirty="0">
                <a:solidFill>
                  <a:schemeClr val="accent5"/>
                </a:solidFill>
              </a:rPr>
              <a:t>Ba vòng: loss, độ khớp với thầy, KL trên anchor, ActiveWR validation (sao là epoch được chọn).</a:t>
            </a:r>
            <a:endParaRPr lang="en-US" sz="1200" dirty="0"/>
          </a:p>
        </p:txBody>
      </p:sp>
      <p:sp>
        <p:nvSpPr>
          <p:cNvPr id="11" name="card-163"/>
          <p:cNvSpPr/>
          <p:nvPr/>
        </p:nvSpPr>
        <p:spPr>
          <a:xfrm>
            <a:off x="6675120" y="4831585"/>
            <a:ext cx="4965192" cy="1523495"/>
          </a:xfrm>
          <a:prstGeom prst="roundRect">
            <a:avLst>
              <a:gd name="adj" fmla="val 4802"/>
            </a:avLst>
          </a:prstGeom>
          <a:solidFill>
            <a:schemeClr val="bg2"/>
          </a:solidFill>
          <a:ln w="12700">
            <a:solidFill>
              <a:schemeClr val="bg2"/>
            </a:solidFill>
            <a:prstDash val="solid"/>
          </a:ln>
        </p:spPr>
      </p:sp>
      <p:sp>
        <p:nvSpPr>
          <p:cNvPr id="12" name="text-164"/>
          <p:cNvSpPr txBox="1"/>
          <p:nvPr/>
        </p:nvSpPr>
        <p:spPr>
          <a:xfrm>
            <a:off x="6876288" y="4968745"/>
            <a:ext cx="4562856" cy="1294895"/>
          </a:xfrm>
          <a:prstGeom prst="rect">
            <a:avLst/>
          </a:prstGeom>
          <a:noFill/>
          <a:ln/>
        </p:spPr>
        <p:txBody>
          <a:bodyPr wrap="square" lIns="0" tIns="0" rIns="0" bIns="0" rtlCol="0" anchor="t"/>
          <a:lstStyle/>
          <a:p>
            <a:pPr marL="0" indent="0">
              <a:spcAft>
                <a:spcPts val="400"/>
              </a:spcAft>
              <a:buNone/>
            </a:pPr>
            <a:r>
              <a:rPr lang="en-US" sz="1300" b="1" dirty="0">
                <a:solidFill>
                  <a:schemeClr val="accent4"/>
                </a:solidFill>
              </a:rPr>
              <a:t>Dữ liệu mỗi vòng: </a:t>
            </a:r>
            <a:r>
              <a:rPr lang="en-US" sz="1300" dirty="0">
                <a:solidFill>
                  <a:schemeClr val="tx1"/>
                </a:solidFill>
              </a:rPr>
              <a:t>6,171 / 8,449 / 10,425 trạng thái quyết định từ 3,000 ván thầy.</a:t>
            </a:r>
            <a:endParaRPr lang="en-US" sz="1300" dirty="0"/>
          </a:p>
          <a:p>
            <a:pPr marL="0" indent="0">
              <a:spcAft>
                <a:spcPts val="400"/>
              </a:spcAft>
              <a:buNone/>
            </a:pPr>
            <a:r>
              <a:rPr lang="en-US" sz="1300" b="1" dirty="0">
                <a:solidFill>
                  <a:schemeClr val="accent4"/>
                </a:solidFill>
              </a:rPr>
              <a:t>Huấn luyện: </a:t>
            </a:r>
            <a:r>
              <a:rPr lang="en-US" sz="1300" dirty="0">
                <a:solidFill>
                  <a:schemeClr val="tx1"/>
                </a:solidFill>
              </a:rPr>
              <a:t>Adam lr 1e-4, batch 256, 8–16 epoch; epoch chọn bằng validation 21000 trước khi test.</a:t>
            </a:r>
            <a:endParaRPr lang="en-US" sz="13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Ba vòng expert iteration: trò bám sát thầy</a:t>
            </a:r>
            <a:endParaRPr lang="en-US" sz="3000" dirty="0"/>
          </a:p>
        </p:txBody>
      </p:sp>
      <p:sp>
        <p:nvSpPr>
          <p:cNvPr id="3" name="card-165"/>
          <p:cNvSpPr/>
          <p:nvPr/>
        </p:nvSpPr>
        <p:spPr>
          <a:xfrm>
            <a:off x="548640" y="1325880"/>
            <a:ext cx="3566160" cy="1645920"/>
          </a:xfrm>
          <a:prstGeom prst="roundRect">
            <a:avLst>
              <a:gd name="adj" fmla="val 4444"/>
            </a:avLst>
          </a:prstGeom>
          <a:solidFill>
            <a:schemeClr val="bg2"/>
          </a:solidFill>
          <a:ln w="12700">
            <a:solidFill>
              <a:schemeClr val="bg2"/>
            </a:solidFill>
            <a:prstDash val="solid"/>
          </a:ln>
        </p:spPr>
      </p:sp>
      <p:sp>
        <p:nvSpPr>
          <p:cNvPr id="4" name="text-166"/>
          <p:cNvSpPr txBox="1"/>
          <p:nvPr/>
        </p:nvSpPr>
        <p:spPr>
          <a:xfrm>
            <a:off x="777240" y="1463040"/>
            <a:ext cx="3108960" cy="320040"/>
          </a:xfrm>
          <a:prstGeom prst="rect">
            <a:avLst/>
          </a:prstGeom>
          <a:noFill/>
          <a:ln/>
        </p:spPr>
        <p:txBody>
          <a:bodyPr wrap="square" lIns="0" tIns="0" rIns="0" bIns="0" rtlCol="0" anchor="t"/>
          <a:lstStyle/>
          <a:p>
            <a:pPr marL="0" indent="0">
              <a:buNone/>
            </a:pPr>
            <a:r>
              <a:rPr lang="en-US" sz="1600" b="1" dirty="0">
                <a:solidFill>
                  <a:schemeClr val="tx1"/>
                </a:solidFill>
              </a:rPr>
              <a:t>Vòng 1: F → S</a:t>
            </a:r>
            <a:endParaRPr lang="en-US" sz="1600" dirty="0"/>
          </a:p>
        </p:txBody>
      </p:sp>
      <p:sp>
        <p:nvSpPr>
          <p:cNvPr id="5" name="text-167"/>
          <p:cNvSpPr txBox="1"/>
          <p:nvPr/>
        </p:nvSpPr>
        <p:spPr>
          <a:xfrm>
            <a:off x="777240" y="1828800"/>
            <a:ext cx="3108960" cy="731520"/>
          </a:xfrm>
          <a:prstGeom prst="rect">
            <a:avLst/>
          </a:prstGeom>
          <a:noFill/>
          <a:ln/>
        </p:spPr>
        <p:txBody>
          <a:bodyPr wrap="square" lIns="0" tIns="0" rIns="0" bIns="0" rtlCol="0" anchor="t"/>
          <a:lstStyle/>
          <a:p>
            <a:pPr marL="0" indent="0">
              <a:buNone/>
            </a:pPr>
            <a:r>
              <a:rPr lang="en-US" sz="4400" b="1" dirty="0">
                <a:solidFill>
                  <a:schemeClr val="accent4"/>
                </a:solidFill>
                <a:latin typeface="+mj-lt" pitchFamily="34" charset="0"/>
                <a:ea typeface="+mj-lt" pitchFamily="34" charset="-122"/>
                <a:cs typeface="+mj-lt" pitchFamily="34" charset="-120"/>
              </a:rPr>
              <a:t>+16.25</a:t>
            </a:r>
            <a:endParaRPr lang="en-US" sz="4400" dirty="0"/>
          </a:p>
        </p:txBody>
      </p:sp>
      <p:sp>
        <p:nvSpPr>
          <p:cNvPr id="6" name="text-168"/>
          <p:cNvSpPr txBox="1"/>
          <p:nvPr/>
        </p:nvSpPr>
        <p:spPr>
          <a:xfrm>
            <a:off x="777240" y="2606040"/>
            <a:ext cx="3108960" cy="274320"/>
          </a:xfrm>
          <a:prstGeom prst="rect">
            <a:avLst/>
          </a:prstGeom>
          <a:noFill/>
          <a:ln/>
        </p:spPr>
        <p:txBody>
          <a:bodyPr wrap="square" lIns="0" tIns="0" rIns="0" bIns="0" rtlCol="0" anchor="t"/>
          <a:lstStyle/>
          <a:p>
            <a:pPr marL="0" indent="0">
              <a:buNone/>
            </a:pPr>
            <a:r>
              <a:rPr lang="en-US" sz="1400" dirty="0">
                <a:solidFill>
                  <a:schemeClr val="accent5"/>
                </a:solidFill>
              </a:rPr>
              <a:t>trò − thầy: −3.75</a:t>
            </a:r>
            <a:endParaRPr lang="en-US" sz="1400" dirty="0"/>
          </a:p>
        </p:txBody>
      </p:sp>
      <p:sp>
        <p:nvSpPr>
          <p:cNvPr id="7" name="card-169"/>
          <p:cNvSpPr/>
          <p:nvPr/>
        </p:nvSpPr>
        <p:spPr>
          <a:xfrm>
            <a:off x="4311396" y="1325880"/>
            <a:ext cx="3566160" cy="1645920"/>
          </a:xfrm>
          <a:prstGeom prst="roundRect">
            <a:avLst>
              <a:gd name="adj" fmla="val 4444"/>
            </a:avLst>
          </a:prstGeom>
          <a:solidFill>
            <a:schemeClr val="bg2"/>
          </a:solidFill>
          <a:ln w="12700">
            <a:solidFill>
              <a:schemeClr val="bg2"/>
            </a:solidFill>
            <a:prstDash val="solid"/>
          </a:ln>
        </p:spPr>
      </p:sp>
      <p:sp>
        <p:nvSpPr>
          <p:cNvPr id="8" name="text-170"/>
          <p:cNvSpPr txBox="1"/>
          <p:nvPr/>
        </p:nvSpPr>
        <p:spPr>
          <a:xfrm>
            <a:off x="4539996" y="1463040"/>
            <a:ext cx="3108960" cy="320040"/>
          </a:xfrm>
          <a:prstGeom prst="rect">
            <a:avLst/>
          </a:prstGeom>
          <a:noFill/>
          <a:ln/>
        </p:spPr>
        <p:txBody>
          <a:bodyPr wrap="square" lIns="0" tIns="0" rIns="0" bIns="0" rtlCol="0" anchor="t"/>
          <a:lstStyle/>
          <a:p>
            <a:pPr marL="0" indent="0">
              <a:buNone/>
            </a:pPr>
            <a:r>
              <a:rPr lang="en-US" sz="1600" b="1" dirty="0">
                <a:solidFill>
                  <a:schemeClr val="tx1"/>
                </a:solidFill>
              </a:rPr>
              <a:t>Vòng 2: G → S2</a:t>
            </a:r>
            <a:endParaRPr lang="en-US" sz="1600" dirty="0"/>
          </a:p>
        </p:txBody>
      </p:sp>
      <p:sp>
        <p:nvSpPr>
          <p:cNvPr id="9" name="text-171"/>
          <p:cNvSpPr txBox="1"/>
          <p:nvPr/>
        </p:nvSpPr>
        <p:spPr>
          <a:xfrm>
            <a:off x="4539996" y="1828800"/>
            <a:ext cx="3108960" cy="731520"/>
          </a:xfrm>
          <a:prstGeom prst="rect">
            <a:avLst/>
          </a:prstGeom>
          <a:noFill/>
          <a:ln/>
        </p:spPr>
        <p:txBody>
          <a:bodyPr wrap="square" lIns="0" tIns="0" rIns="0" bIns="0" rtlCol="0" anchor="t"/>
          <a:lstStyle/>
          <a:p>
            <a:pPr marL="0" indent="0">
              <a:buNone/>
            </a:pPr>
            <a:r>
              <a:rPr lang="en-US" sz="4400" b="1" dirty="0">
                <a:solidFill>
                  <a:schemeClr val="accent4"/>
                </a:solidFill>
                <a:latin typeface="+mj-lt" pitchFamily="34" charset="0"/>
                <a:ea typeface="+mj-lt" pitchFamily="34" charset="-122"/>
                <a:cs typeface="+mj-lt" pitchFamily="34" charset="-120"/>
              </a:rPr>
              <a:t>+35.0</a:t>
            </a:r>
            <a:endParaRPr lang="en-US" sz="4400" dirty="0"/>
          </a:p>
        </p:txBody>
      </p:sp>
      <p:sp>
        <p:nvSpPr>
          <p:cNvPr id="10" name="text-172"/>
          <p:cNvSpPr txBox="1"/>
          <p:nvPr/>
        </p:nvSpPr>
        <p:spPr>
          <a:xfrm>
            <a:off x="4539996" y="2606040"/>
            <a:ext cx="3108960" cy="274320"/>
          </a:xfrm>
          <a:prstGeom prst="rect">
            <a:avLst/>
          </a:prstGeom>
          <a:noFill/>
          <a:ln/>
        </p:spPr>
        <p:txBody>
          <a:bodyPr wrap="square" lIns="0" tIns="0" rIns="0" bIns="0" rtlCol="0" anchor="t"/>
          <a:lstStyle/>
          <a:p>
            <a:pPr marL="0" indent="0">
              <a:buNone/>
            </a:pPr>
            <a:r>
              <a:rPr lang="en-US" sz="1400" dirty="0">
                <a:solidFill>
                  <a:schemeClr val="accent5"/>
                </a:solidFill>
              </a:rPr>
              <a:t>trò − thầy: −3.5</a:t>
            </a:r>
            <a:endParaRPr lang="en-US" sz="1400" dirty="0"/>
          </a:p>
        </p:txBody>
      </p:sp>
      <p:sp>
        <p:nvSpPr>
          <p:cNvPr id="11" name="card-173"/>
          <p:cNvSpPr/>
          <p:nvPr/>
        </p:nvSpPr>
        <p:spPr>
          <a:xfrm>
            <a:off x="8074152" y="1325880"/>
            <a:ext cx="3566160" cy="1645920"/>
          </a:xfrm>
          <a:prstGeom prst="roundRect">
            <a:avLst>
              <a:gd name="adj" fmla="val 4444"/>
            </a:avLst>
          </a:prstGeom>
          <a:solidFill>
            <a:schemeClr val="bg2"/>
          </a:solidFill>
          <a:ln w="12700">
            <a:solidFill>
              <a:schemeClr val="bg2"/>
            </a:solidFill>
            <a:prstDash val="solid"/>
          </a:ln>
        </p:spPr>
      </p:sp>
      <p:sp>
        <p:nvSpPr>
          <p:cNvPr id="12" name="text-174"/>
          <p:cNvSpPr txBox="1"/>
          <p:nvPr/>
        </p:nvSpPr>
        <p:spPr>
          <a:xfrm>
            <a:off x="8302752" y="1463040"/>
            <a:ext cx="3108960" cy="320040"/>
          </a:xfrm>
          <a:prstGeom prst="rect">
            <a:avLst/>
          </a:prstGeom>
          <a:noFill/>
          <a:ln/>
        </p:spPr>
        <p:txBody>
          <a:bodyPr wrap="square" lIns="0" tIns="0" rIns="0" bIns="0" rtlCol="0" anchor="t"/>
          <a:lstStyle/>
          <a:p>
            <a:pPr marL="0" indent="0">
              <a:buNone/>
            </a:pPr>
            <a:r>
              <a:rPr lang="en-US" sz="1600" b="1" dirty="0">
                <a:solidFill>
                  <a:schemeClr val="tx1"/>
                </a:solidFill>
              </a:rPr>
              <a:t>Vòng 3: S2 → S3</a:t>
            </a:r>
            <a:endParaRPr lang="en-US" sz="1600" dirty="0"/>
          </a:p>
        </p:txBody>
      </p:sp>
      <p:sp>
        <p:nvSpPr>
          <p:cNvPr id="13" name="text-175"/>
          <p:cNvSpPr txBox="1"/>
          <p:nvPr/>
        </p:nvSpPr>
        <p:spPr>
          <a:xfrm>
            <a:off x="8302752" y="1828800"/>
            <a:ext cx="3108960" cy="731520"/>
          </a:xfrm>
          <a:prstGeom prst="rect">
            <a:avLst/>
          </a:prstGeom>
          <a:noFill/>
          <a:ln/>
        </p:spPr>
        <p:txBody>
          <a:bodyPr wrap="square" lIns="0" tIns="0" rIns="0" bIns="0" rtlCol="0" anchor="t"/>
          <a:lstStyle/>
          <a:p>
            <a:pPr marL="0" indent="0">
              <a:buNone/>
            </a:pPr>
            <a:r>
              <a:rPr lang="en-US" sz="4400" b="1" dirty="0">
                <a:solidFill>
                  <a:schemeClr val="accent4"/>
                </a:solidFill>
                <a:latin typeface="+mj-lt" pitchFamily="34" charset="0"/>
                <a:ea typeface="+mj-lt" pitchFamily="34" charset="-122"/>
                <a:cs typeface="+mj-lt" pitchFamily="34" charset="-120"/>
              </a:rPr>
              <a:t>+10.5</a:t>
            </a:r>
            <a:endParaRPr lang="en-US" sz="4400" dirty="0"/>
          </a:p>
        </p:txBody>
      </p:sp>
      <p:sp>
        <p:nvSpPr>
          <p:cNvPr id="14" name="text-176"/>
          <p:cNvSpPr txBox="1"/>
          <p:nvPr/>
        </p:nvSpPr>
        <p:spPr>
          <a:xfrm>
            <a:off x="8302752" y="2606040"/>
            <a:ext cx="3108960" cy="274320"/>
          </a:xfrm>
          <a:prstGeom prst="rect">
            <a:avLst/>
          </a:prstGeom>
          <a:noFill/>
          <a:ln/>
        </p:spPr>
        <p:txBody>
          <a:bodyPr wrap="square" lIns="0" tIns="0" rIns="0" bIns="0" rtlCol="0" anchor="t"/>
          <a:lstStyle/>
          <a:p>
            <a:pPr marL="0" indent="0">
              <a:buNone/>
            </a:pPr>
            <a:r>
              <a:rPr lang="en-US" sz="1400" dirty="0">
                <a:solidFill>
                  <a:schemeClr val="accent5"/>
                </a:solidFill>
              </a:rPr>
              <a:t>trò − thầy: −0.75</a:t>
            </a:r>
            <a:endParaRPr lang="en-US" sz="1400" dirty="0"/>
          </a:p>
        </p:txBody>
      </p:sp>
      <p:pic>
        <p:nvPicPr>
          <p:cNvPr id="15" name="img-177" descr="Ma trận nhầm lẫn hành động của G, S2, S2 và S3 so với nước tốt nhất của thầy"/>
          <p:cNvPicPr>
            <a:picLocks noChangeAspect="1"/>
          </p:cNvPicPr>
          <p:nvPr/>
        </p:nvPicPr>
        <p:blipFill>
          <a:blip r:embed="rId3"/>
          <a:stretch>
            <a:fillRect/>
          </a:stretch>
        </p:blipFill>
        <p:spPr>
          <a:xfrm>
            <a:off x="548640" y="3154680"/>
            <a:ext cx="6949440" cy="1822476"/>
          </a:xfrm>
          <a:prstGeom prst="rect">
            <a:avLst/>
          </a:prstGeom>
        </p:spPr>
      </p:pic>
      <p:sp>
        <p:nvSpPr>
          <p:cNvPr id="16" name="text-178"/>
          <p:cNvSpPr txBox="1"/>
          <p:nvPr/>
        </p:nvSpPr>
        <p:spPr>
          <a:xfrm>
            <a:off x="548640" y="5022876"/>
            <a:ext cx="6949440" cy="594360"/>
          </a:xfrm>
          <a:prstGeom prst="rect">
            <a:avLst/>
          </a:prstGeom>
          <a:noFill/>
          <a:ln/>
        </p:spPr>
        <p:txBody>
          <a:bodyPr wrap="square" lIns="0" tIns="0" rIns="0" bIns="0" rtlCol="0" anchor="t"/>
          <a:lstStyle/>
          <a:p>
            <a:pPr marL="0" indent="0">
              <a:buNone/>
            </a:pPr>
            <a:r>
              <a:rPr lang="en-US" sz="1200" dirty="0">
                <a:solidFill>
                  <a:schemeClr val="accent5"/>
                </a:solidFill>
              </a:rPr>
              <a:t>Ma trận nhầm lẫn trên trạng thái held-out. Lỗi chính của G trước vòng 2 là hướng đi (chọn LEFT 67% khi RIGHT tốt nhất), còn BOMB đã đúng 94%.</a:t>
            </a:r>
            <a:endParaRPr lang="en-US" sz="1200" dirty="0"/>
          </a:p>
        </p:txBody>
      </p:sp>
      <p:sp>
        <p:nvSpPr>
          <p:cNvPr id="17" name="card-179"/>
          <p:cNvSpPr/>
          <p:nvPr/>
        </p:nvSpPr>
        <p:spPr>
          <a:xfrm>
            <a:off x="548640" y="5708676"/>
            <a:ext cx="6949440" cy="646404"/>
          </a:xfrm>
          <a:prstGeom prst="roundRect">
            <a:avLst>
              <a:gd name="adj" fmla="val 11317"/>
            </a:avLst>
          </a:prstGeom>
          <a:solidFill>
            <a:schemeClr val="bg2"/>
          </a:solidFill>
          <a:ln w="12700">
            <a:solidFill>
              <a:schemeClr val="bg2"/>
            </a:solidFill>
            <a:prstDash val="solid"/>
          </a:ln>
        </p:spPr>
      </p:sp>
      <p:sp>
        <p:nvSpPr>
          <p:cNvPr id="18" name="text-180"/>
          <p:cNvSpPr txBox="1"/>
          <p:nvPr/>
        </p:nvSpPr>
        <p:spPr>
          <a:xfrm>
            <a:off x="749808" y="5818404"/>
            <a:ext cx="6547104" cy="463524"/>
          </a:xfrm>
          <a:prstGeom prst="rect">
            <a:avLst/>
          </a:prstGeom>
          <a:noFill/>
          <a:ln/>
        </p:spPr>
        <p:txBody>
          <a:bodyPr wrap="square" lIns="0" tIns="0" rIns="0" bIns="0" rtlCol="0" anchor="t"/>
          <a:lstStyle/>
          <a:p>
            <a:pPr marL="0" indent="0">
              <a:buNone/>
            </a:pPr>
            <a:r>
              <a:rPr lang="en-US" sz="1400" b="1" dirty="0">
                <a:solidFill>
                  <a:schemeClr val="accent4"/>
                </a:solidFill>
              </a:rPr>
              <a:t>Ổn định qua 3 train seed: </a:t>
            </a:r>
            <a:r>
              <a:rPr lang="en-US" sz="1400" dirty="0">
                <a:solidFill>
                  <a:schemeClr val="tx1"/>
                </a:solidFill>
              </a:rPr>
              <a:t>S3 − S2 = +10.5 / +9.0 / +9.25 (độ lệch chuẩn 0.8), cả ba qua gate. Phần tăng là thắng chủ động, hòa giảm 6.25, ván ngắn hơn (131 so với 202 bước).</a:t>
            </a:r>
            <a:endParaRPr lang="en-US" sz="1400" dirty="0"/>
          </a:p>
        </p:txBody>
      </p:sp>
      <p:pic>
        <p:nvPicPr>
          <p:cNvPr id="19" name="img-181" descr="Cơ cấu kết quả 400 trận của các mốc: thắng chủ động, thụ động, hòa, tự nổ, thua"/>
          <p:cNvPicPr>
            <a:picLocks noChangeAspect="1"/>
          </p:cNvPicPr>
          <p:nvPr/>
        </p:nvPicPr>
        <p:blipFill>
          <a:blip r:embed="rId4"/>
          <a:stretch>
            <a:fillRect/>
          </a:stretch>
        </p:blipFill>
        <p:spPr>
          <a:xfrm>
            <a:off x="8001000" y="3154680"/>
            <a:ext cx="3291840" cy="2777326"/>
          </a:xfrm>
          <a:prstGeom prst="rect">
            <a:avLst/>
          </a:prstGeom>
        </p:spPr>
      </p:pic>
      <p:sp>
        <p:nvSpPr>
          <p:cNvPr id="20" name="text-182"/>
          <p:cNvSpPr txBox="1"/>
          <p:nvPr/>
        </p:nvSpPr>
        <p:spPr>
          <a:xfrm>
            <a:off x="8001000" y="5977726"/>
            <a:ext cx="3639312" cy="457200"/>
          </a:xfrm>
          <a:prstGeom prst="rect">
            <a:avLst/>
          </a:prstGeom>
          <a:noFill/>
          <a:ln/>
        </p:spPr>
        <p:txBody>
          <a:bodyPr wrap="square" lIns="0" tIns="0" rIns="0" bIns="0" rtlCol="0" anchor="t"/>
          <a:lstStyle/>
          <a:p>
            <a:pPr marL="0" indent="0">
              <a:buNone/>
            </a:pPr>
            <a:r>
              <a:rPr lang="en-US" sz="1200" dirty="0">
                <a:solidFill>
                  <a:schemeClr val="accent5"/>
                </a:solidFill>
              </a:rPr>
              <a:t>Cơ cấu kết quả 400 trận: học trò chưng cất thắng bằng hạ gục.</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Đặt cạnh model đã công bố: định vị, không xếp hạng</a:t>
            </a:r>
            <a:endParaRPr lang="en-US" sz="3000" dirty="0"/>
          </a:p>
        </p:txBody>
      </p:sp>
      <p:graphicFrame>
        <p:nvGraphicFramePr>
          <p:cNvPr id="3" name="Chart 0"/>
          <p:cNvGraphicFramePr/>
          <p:nvPr/>
        </p:nvGraphicFramePr>
        <p:xfrm>
          <a:off x="548640" y="1280160"/>
          <a:ext cx="731520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4" name="legend-183"/>
          <p:cNvSpPr/>
          <p:nvPr/>
        </p:nvSpPr>
        <p:spPr>
          <a:xfrm>
            <a:off x="548640" y="5852160"/>
            <a:ext cx="164592" cy="164592"/>
          </a:xfrm>
          <a:prstGeom prst="rect">
            <a:avLst/>
          </a:prstGeom>
          <a:solidFill>
            <a:srgbClr val="5B607A"/>
          </a:solidFill>
          <a:ln w="12700">
            <a:solidFill>
              <a:srgbClr val="5B607A"/>
            </a:solidFill>
            <a:prstDash val="solid"/>
          </a:ln>
        </p:spPr>
      </p:sp>
      <p:sp>
        <p:nvSpPr>
          <p:cNvPr id="5" name="text-184"/>
          <p:cNvSpPr txBox="1"/>
          <p:nvPr/>
        </p:nvSpPr>
        <p:spPr>
          <a:xfrm>
            <a:off x="786384" y="5806440"/>
            <a:ext cx="1600200" cy="274320"/>
          </a:xfrm>
          <a:prstGeom prst="rect">
            <a:avLst/>
          </a:prstGeom>
          <a:noFill/>
          <a:ln/>
        </p:spPr>
        <p:txBody>
          <a:bodyPr wrap="square" lIns="0" tIns="0" rIns="0" bIns="0" rtlCol="0" anchor="t"/>
          <a:lstStyle/>
          <a:p>
            <a:pPr marL="0" indent="0">
              <a:buNone/>
            </a:pPr>
            <a:r>
              <a:rPr lang="en-US" sz="1200" dirty="0">
                <a:solidFill>
                  <a:schemeClr val="tx1"/>
                </a:solidFill>
              </a:rPr>
              <a:t>Đã công bố: WR</a:t>
            </a:r>
            <a:endParaRPr lang="en-US" sz="1200" dirty="0"/>
          </a:p>
        </p:txBody>
      </p:sp>
      <p:sp>
        <p:nvSpPr>
          <p:cNvPr id="6" name="legend-185"/>
          <p:cNvSpPr/>
          <p:nvPr/>
        </p:nvSpPr>
        <p:spPr>
          <a:xfrm>
            <a:off x="2377440" y="5852160"/>
            <a:ext cx="164592" cy="164592"/>
          </a:xfrm>
          <a:prstGeom prst="rect">
            <a:avLst/>
          </a:prstGeom>
          <a:solidFill>
            <a:srgbClr val="B8BCD0"/>
          </a:solidFill>
          <a:ln w="12700">
            <a:solidFill>
              <a:srgbClr val="B8BCD0"/>
            </a:solidFill>
            <a:prstDash val="solid"/>
          </a:ln>
        </p:spPr>
      </p:sp>
      <p:sp>
        <p:nvSpPr>
          <p:cNvPr id="7" name="text-186"/>
          <p:cNvSpPr txBox="1"/>
          <p:nvPr/>
        </p:nvSpPr>
        <p:spPr>
          <a:xfrm>
            <a:off x="2615184" y="5806440"/>
            <a:ext cx="1600200" cy="274320"/>
          </a:xfrm>
          <a:prstGeom prst="rect">
            <a:avLst/>
          </a:prstGeom>
          <a:noFill/>
          <a:ln/>
        </p:spPr>
        <p:txBody>
          <a:bodyPr wrap="square" lIns="0" tIns="0" rIns="0" bIns="0" rtlCol="0" anchor="t"/>
          <a:lstStyle/>
          <a:p>
            <a:pPr marL="0" indent="0">
              <a:buNone/>
            </a:pPr>
            <a:r>
              <a:rPr lang="en-US" sz="1200" dirty="0">
                <a:solidFill>
                  <a:schemeClr val="tx1"/>
                </a:solidFill>
              </a:rPr>
              <a:t>Dải tới mức cao nhất</a:t>
            </a:r>
            <a:endParaRPr lang="en-US" sz="1200" dirty="0"/>
          </a:p>
        </p:txBody>
      </p:sp>
      <p:sp>
        <p:nvSpPr>
          <p:cNvPr id="8" name="legend-187"/>
          <p:cNvSpPr/>
          <p:nvPr/>
        </p:nvSpPr>
        <p:spPr>
          <a:xfrm>
            <a:off x="4206240" y="5852160"/>
            <a:ext cx="164592" cy="164592"/>
          </a:xfrm>
          <a:prstGeom prst="rect">
            <a:avLst/>
          </a:prstGeom>
          <a:solidFill>
            <a:srgbClr val="3D2F9B"/>
          </a:solidFill>
          <a:ln w="12700">
            <a:solidFill>
              <a:srgbClr val="3D2F9B"/>
            </a:solidFill>
            <a:prstDash val="solid"/>
          </a:ln>
        </p:spPr>
      </p:sp>
      <p:sp>
        <p:nvSpPr>
          <p:cNvPr id="9" name="text-188"/>
          <p:cNvSpPr txBox="1"/>
          <p:nvPr/>
        </p:nvSpPr>
        <p:spPr>
          <a:xfrm>
            <a:off x="4443984" y="5806440"/>
            <a:ext cx="1600200" cy="274320"/>
          </a:xfrm>
          <a:prstGeom prst="rect">
            <a:avLst/>
          </a:prstGeom>
          <a:noFill/>
          <a:ln/>
        </p:spPr>
        <p:txBody>
          <a:bodyPr wrap="square" lIns="0" tIns="0" rIns="0" bIns="0" rtlCol="0" anchor="t"/>
          <a:lstStyle/>
          <a:p>
            <a:pPr marL="0" indent="0">
              <a:buNone/>
            </a:pPr>
            <a:r>
              <a:rPr lang="en-US" sz="1200" dirty="0">
                <a:solidFill>
                  <a:schemeClr val="tx1"/>
                </a:solidFill>
              </a:rPr>
              <a:t>Của ta: ActiveWR</a:t>
            </a:r>
            <a:endParaRPr lang="en-US" sz="1200" dirty="0"/>
          </a:p>
        </p:txBody>
      </p:sp>
      <p:sp>
        <p:nvSpPr>
          <p:cNvPr id="10" name="legend-189"/>
          <p:cNvSpPr/>
          <p:nvPr/>
        </p:nvSpPr>
        <p:spPr>
          <a:xfrm>
            <a:off x="6035040" y="5852160"/>
            <a:ext cx="164592" cy="164592"/>
          </a:xfrm>
          <a:prstGeom prst="rect">
            <a:avLst/>
          </a:prstGeom>
          <a:solidFill>
            <a:srgbClr val="B9B0F0"/>
          </a:solidFill>
          <a:ln w="12700">
            <a:solidFill>
              <a:srgbClr val="B9B0F0"/>
            </a:solidFill>
            <a:prstDash val="solid"/>
          </a:ln>
        </p:spPr>
      </p:sp>
      <p:sp>
        <p:nvSpPr>
          <p:cNvPr id="11" name="text-190"/>
          <p:cNvSpPr txBox="1"/>
          <p:nvPr/>
        </p:nvSpPr>
        <p:spPr>
          <a:xfrm>
            <a:off x="6272784" y="5806440"/>
            <a:ext cx="1600200" cy="274320"/>
          </a:xfrm>
          <a:prstGeom prst="rect">
            <a:avLst/>
          </a:prstGeom>
          <a:noFill/>
          <a:ln/>
        </p:spPr>
        <p:txBody>
          <a:bodyPr wrap="square" lIns="0" tIns="0" rIns="0" bIns="0" rtlCol="0" anchor="t"/>
          <a:lstStyle/>
          <a:p>
            <a:pPr marL="0" indent="0">
              <a:buNone/>
            </a:pPr>
            <a:r>
              <a:rPr lang="en-US" sz="1200" dirty="0">
                <a:solidFill>
                  <a:schemeClr val="tx1"/>
                </a:solidFill>
              </a:rPr>
              <a:t>Của ta: thắng thụ động</a:t>
            </a:r>
            <a:endParaRPr lang="en-US" sz="1200" dirty="0"/>
          </a:p>
        </p:txBody>
      </p:sp>
      <p:sp>
        <p:nvSpPr>
          <p:cNvPr id="12" name="text-191"/>
          <p:cNvSpPr txBox="1"/>
          <p:nvPr/>
        </p:nvSpPr>
        <p:spPr>
          <a:xfrm>
            <a:off x="548640" y="6126480"/>
            <a:ext cx="7315200" cy="274320"/>
          </a:xfrm>
          <a:prstGeom prst="rect">
            <a:avLst/>
          </a:prstGeom>
          <a:noFill/>
          <a:ln/>
        </p:spPr>
        <p:txBody>
          <a:bodyPr wrap="square" lIns="0" tIns="0" rIns="0" bIns="0" rtlCol="0" anchor="t"/>
          <a:lstStyle/>
          <a:p>
            <a:pPr marL="0" indent="0">
              <a:buNone/>
            </a:pPr>
            <a:r>
              <a:rPr lang="en-US" sz="1100" dirty="0">
                <a:solidFill>
                  <a:schemeClr val="accent5"/>
                </a:solidFill>
              </a:rPr>
              <a:t>Pommerman FFA 11×11, 4 agent, đấu 3 SimpleAgent (họ) hoặc 3 RuleBot (ta, 160 trận). Chế độ đội 2×2 xem ở phụ lục.</a:t>
            </a:r>
            <a:endParaRPr lang="en-US" sz="1100" dirty="0"/>
          </a:p>
        </p:txBody>
      </p:sp>
      <p:sp>
        <p:nvSpPr>
          <p:cNvPr id="13" name="card-192"/>
          <p:cNvSpPr/>
          <p:nvPr/>
        </p:nvSpPr>
        <p:spPr>
          <a:xfrm>
            <a:off x="8138160" y="1280160"/>
            <a:ext cx="3502152" cy="1463040"/>
          </a:xfrm>
          <a:prstGeom prst="roundRect">
            <a:avLst>
              <a:gd name="adj" fmla="val 5000"/>
            </a:avLst>
          </a:prstGeom>
          <a:solidFill>
            <a:schemeClr val="bg2"/>
          </a:solidFill>
          <a:ln w="12700">
            <a:solidFill>
              <a:schemeClr val="bg2"/>
            </a:solidFill>
            <a:prstDash val="solid"/>
          </a:ln>
        </p:spPr>
      </p:sp>
      <p:sp>
        <p:nvSpPr>
          <p:cNvPr id="14" name="text-193"/>
          <p:cNvSpPr txBox="1"/>
          <p:nvPr/>
        </p:nvSpPr>
        <p:spPr>
          <a:xfrm>
            <a:off x="8321040" y="1389888"/>
            <a:ext cx="3136392"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Không cùng bối cảnh</a:t>
            </a:r>
            <a:endParaRPr lang="en-US" sz="1500" dirty="0"/>
          </a:p>
        </p:txBody>
      </p:sp>
      <p:sp>
        <p:nvSpPr>
          <p:cNvPr id="15" name="text-194"/>
          <p:cNvSpPr txBox="1"/>
          <p:nvPr/>
        </p:nvSpPr>
        <p:spPr>
          <a:xfrm>
            <a:off x="8321040" y="1737360"/>
            <a:ext cx="3136392" cy="960120"/>
          </a:xfrm>
          <a:prstGeom prst="rect">
            <a:avLst/>
          </a:prstGeom>
          <a:noFill/>
          <a:ln/>
        </p:spPr>
        <p:txBody>
          <a:bodyPr wrap="square" lIns="0" tIns="0" rIns="0" bIns="0" rtlCol="0" anchor="t"/>
          <a:lstStyle/>
          <a:p>
            <a:pPr marL="0" indent="0">
              <a:buNone/>
            </a:pPr>
            <a:r>
              <a:rPr lang="en-US" sz="1300" dirty="0">
                <a:solidFill>
                  <a:schemeClr val="tx1"/>
                </a:solidFill>
              </a:rPr>
              <a:t>Pommerman có đá bom, bom nổ sau 10 bước, bàn 11×11. Ta: bom nổ sau 8 bước, có vòng co, quan sát đầy đủ.</a:t>
            </a:r>
            <a:endParaRPr lang="en-US" sz="1300" dirty="0"/>
          </a:p>
        </p:txBody>
      </p:sp>
      <p:sp>
        <p:nvSpPr>
          <p:cNvPr id="16" name="card-195"/>
          <p:cNvSpPr/>
          <p:nvPr/>
        </p:nvSpPr>
        <p:spPr>
          <a:xfrm>
            <a:off x="8138160" y="2926080"/>
            <a:ext cx="3502152" cy="1234440"/>
          </a:xfrm>
          <a:prstGeom prst="roundRect">
            <a:avLst>
              <a:gd name="adj" fmla="val 5926"/>
            </a:avLst>
          </a:prstGeom>
          <a:solidFill>
            <a:schemeClr val="bg2"/>
          </a:solidFill>
          <a:ln w="12700">
            <a:solidFill>
              <a:schemeClr val="bg2"/>
            </a:solidFill>
            <a:prstDash val="solid"/>
          </a:ln>
        </p:spPr>
      </p:sp>
      <p:sp>
        <p:nvSpPr>
          <p:cNvPr id="17" name="text-196"/>
          <p:cNvSpPr txBox="1"/>
          <p:nvPr/>
        </p:nvSpPr>
        <p:spPr>
          <a:xfrm>
            <a:off x="8321040" y="3035808"/>
            <a:ext cx="3136392"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Tiêu chí của ta chặt hơn</a:t>
            </a:r>
            <a:endParaRPr lang="en-US" sz="1500" dirty="0"/>
          </a:p>
        </p:txBody>
      </p:sp>
      <p:sp>
        <p:nvSpPr>
          <p:cNvPr id="18" name="text-197"/>
          <p:cNvSpPr txBox="1"/>
          <p:nvPr/>
        </p:nvSpPr>
        <p:spPr>
          <a:xfrm>
            <a:off x="8321040" y="3383280"/>
            <a:ext cx="3136392" cy="731520"/>
          </a:xfrm>
          <a:prstGeom prst="rect">
            <a:avLst/>
          </a:prstGeom>
          <a:noFill/>
          <a:ln/>
        </p:spPr>
        <p:txBody>
          <a:bodyPr wrap="square" lIns="0" tIns="0" rIns="0" bIns="0" rtlCol="0" anchor="t"/>
          <a:lstStyle/>
          <a:p>
            <a:pPr marL="0" indent="0">
              <a:buNone/>
            </a:pPr>
            <a:r>
              <a:rPr lang="en-US" sz="1300" dirty="0">
                <a:solidFill>
                  <a:schemeClr val="tx1"/>
                </a:solidFill>
              </a:rPr>
              <a:t>Họ đếm cả thắng thụ động. Theo tiêu chí đó, S3 là 98.0 thay vì 92.25.</a:t>
            </a:r>
            <a:endParaRPr lang="en-US" sz="1300" dirty="0"/>
          </a:p>
        </p:txBody>
      </p:sp>
      <p:sp>
        <p:nvSpPr>
          <p:cNvPr id="19" name="card-198"/>
          <p:cNvSpPr/>
          <p:nvPr/>
        </p:nvSpPr>
        <p:spPr>
          <a:xfrm>
            <a:off x="8138160" y="4343400"/>
            <a:ext cx="3502152" cy="1554480"/>
          </a:xfrm>
          <a:prstGeom prst="roundRect">
            <a:avLst>
              <a:gd name="adj" fmla="val 4706"/>
            </a:avLst>
          </a:prstGeom>
          <a:solidFill>
            <a:schemeClr val="bg2"/>
          </a:solidFill>
          <a:ln w="12700">
            <a:solidFill>
              <a:schemeClr val="bg2"/>
            </a:solidFill>
            <a:prstDash val="solid"/>
          </a:ln>
        </p:spPr>
      </p:sp>
      <p:sp>
        <p:nvSpPr>
          <p:cNvPr id="20" name="text-199"/>
          <p:cNvSpPr txBox="1"/>
          <p:nvPr/>
        </p:nvSpPr>
        <p:spPr>
          <a:xfrm>
            <a:off x="8321040" y="4453128"/>
            <a:ext cx="3136392"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Ngân sách nhỏ</a:t>
            </a:r>
            <a:endParaRPr lang="en-US" sz="1500" dirty="0"/>
          </a:p>
        </p:txBody>
      </p:sp>
      <p:sp>
        <p:nvSpPr>
          <p:cNvPr id="21" name="text-200"/>
          <p:cNvSpPr txBox="1"/>
          <p:nvPr/>
        </p:nvSpPr>
        <p:spPr>
          <a:xfrm>
            <a:off x="8321040" y="4800600"/>
            <a:ext cx="3136392" cy="1051560"/>
          </a:xfrm>
          <a:prstGeom prst="rect">
            <a:avLst/>
          </a:prstGeom>
          <a:noFill/>
          <a:ln/>
        </p:spPr>
        <p:txBody>
          <a:bodyPr wrap="square" lIns="0" tIns="0" rIns="0" bIns="0" rtlCol="0" anchor="t"/>
          <a:lstStyle/>
          <a:p>
            <a:pPr marL="0" indent="0">
              <a:buNone/>
            </a:pPr>
            <a:r>
              <a:rPr lang="en-US" sz="1300" dirty="0">
                <a:solidFill>
                  <a:schemeClr val="tx1"/>
                </a:solidFill>
              </a:rPr>
              <a:t>Agent học mạnh nhất Pommerman cần 200M bước và chỉ thắng 30.0% trước agent search. S3 train trên máy cá nhân.</a:t>
            </a:r>
            <a:endParaRPr lang="en-US" sz="13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Đấu CNN thì hòa nhiều, và phần lớn do luật chơi</a:t>
            </a:r>
            <a:endParaRPr lang="en-US" sz="3000" dirty="0"/>
          </a:p>
        </p:txBody>
      </p:sp>
      <p:pic>
        <p:nvPicPr>
          <p:cNvPr id="3" name="img-201" descr="Kết quả CNN đấu CNN và CNN đấu search trên validation: hòa chiếm phần lớn"/>
          <p:cNvPicPr>
            <a:picLocks noChangeAspect="1"/>
          </p:cNvPicPr>
          <p:nvPr/>
        </p:nvPicPr>
        <p:blipFill>
          <a:blip r:embed="rId3"/>
          <a:stretch>
            <a:fillRect/>
          </a:stretch>
        </p:blipFill>
        <p:spPr>
          <a:xfrm>
            <a:off x="1401649" y="1280160"/>
            <a:ext cx="4607287" cy="3383280"/>
          </a:xfrm>
          <a:prstGeom prst="rect">
            <a:avLst/>
          </a:prstGeom>
        </p:spPr>
      </p:pic>
      <p:pic>
        <p:nvPicPr>
          <p:cNvPr id="4" name="img-202" descr="Tỉ lệ trận hòa của S3 có kế hoạch giết theo hai mô hình đối thủ"/>
          <p:cNvPicPr>
            <a:picLocks noChangeAspect="1"/>
          </p:cNvPicPr>
          <p:nvPr/>
        </p:nvPicPr>
        <p:blipFill>
          <a:blip r:embed="rId4"/>
          <a:stretch>
            <a:fillRect/>
          </a:stretch>
        </p:blipFill>
        <p:spPr>
          <a:xfrm>
            <a:off x="6557576" y="1280160"/>
            <a:ext cx="4232470" cy="3383280"/>
          </a:xfrm>
          <a:prstGeom prst="rect">
            <a:avLst/>
          </a:prstGeom>
        </p:spPr>
      </p:pic>
      <p:sp>
        <p:nvSpPr>
          <p:cNvPr id="5" name="text-203"/>
          <p:cNvSpPr txBox="1"/>
          <p:nvPr/>
        </p:nvSpPr>
        <p:spPr>
          <a:xfrm>
            <a:off x="1401649" y="4709160"/>
            <a:ext cx="4607287" cy="457200"/>
          </a:xfrm>
          <a:prstGeom prst="rect">
            <a:avLst/>
          </a:prstGeom>
          <a:noFill/>
          <a:ln/>
        </p:spPr>
        <p:txBody>
          <a:bodyPr wrap="square" lIns="0" tIns="0" rIns="0" bIns="0" rtlCol="0" anchor="t"/>
          <a:lstStyle/>
          <a:p>
            <a:pPr marL="0" indent="0">
              <a:buNone/>
            </a:pPr>
            <a:r>
              <a:rPr lang="en-US" sz="1200" dirty="0">
                <a:solidFill>
                  <a:schemeClr val="accent5"/>
                </a:solidFill>
              </a:rPr>
              <a:t>Hòa chiếm 53–64% khi S3 đấu CNN, nhưng dưới 1% khi đấu RuleBot.</a:t>
            </a:r>
            <a:endParaRPr lang="en-US" sz="1200" dirty="0"/>
          </a:p>
        </p:txBody>
      </p:sp>
      <p:sp>
        <p:nvSpPr>
          <p:cNvPr id="6" name="text-204"/>
          <p:cNvSpPr txBox="1"/>
          <p:nvPr/>
        </p:nvSpPr>
        <p:spPr>
          <a:xfrm>
            <a:off x="6557576" y="4709160"/>
            <a:ext cx="4232470" cy="457200"/>
          </a:xfrm>
          <a:prstGeom prst="rect">
            <a:avLst/>
          </a:prstGeom>
          <a:noFill/>
          <a:ln/>
        </p:spPr>
        <p:txBody>
          <a:bodyPr wrap="square" lIns="0" tIns="0" rIns="0" bIns="0" rtlCol="0" anchor="t"/>
          <a:lstStyle/>
          <a:p>
            <a:pPr marL="0" indent="0">
              <a:buNone/>
            </a:pPr>
            <a:r>
              <a:rPr lang="en-US" sz="1200" dirty="0">
                <a:solidFill>
                  <a:schemeClr val="accent5"/>
                </a:solidFill>
              </a:rPr>
              <a:t>Tỉ lệ trận hòa có kế hoạch giết, khi search đoán đối thủ là RuleBot (sai) và là chính CNN của nó (đúng).</a:t>
            </a:r>
            <a:endParaRPr lang="en-US" sz="1200" dirty="0"/>
          </a:p>
        </p:txBody>
      </p:sp>
      <p:sp>
        <p:nvSpPr>
          <p:cNvPr id="7" name="text-205"/>
          <p:cNvSpPr txBox="1"/>
          <p:nvPr/>
        </p:nvSpPr>
        <p:spPr>
          <a:xfrm>
            <a:off x="548640" y="5138928"/>
            <a:ext cx="11091672" cy="274320"/>
          </a:xfrm>
          <a:prstGeom prst="rect">
            <a:avLst/>
          </a:prstGeom>
          <a:noFill/>
          <a:ln/>
        </p:spPr>
        <p:txBody>
          <a:bodyPr wrap="square" lIns="0" tIns="0" rIns="0" bIns="0" rtlCol="0" anchor="t"/>
          <a:lstStyle/>
          <a:p>
            <a:pPr marL="0" indent="0">
              <a:buNone/>
            </a:pPr>
            <a:r>
              <a:rPr lang="en-US" sz="1400" b="1" dirty="0">
                <a:solidFill>
                  <a:schemeClr val="accent4"/>
                </a:solidFill>
              </a:rPr>
              <a:t>Vì sao hòa: </a:t>
            </a:r>
            <a:r>
              <a:rPr lang="en-US" sz="1400" dirty="0">
                <a:solidFill>
                  <a:schemeClr val="tx1"/>
                </a:solidFill>
              </a:rPr>
              <a:t>hai bên cùng dùng một mask an toàn nên không ai tự bước vào vùng nổ; CNN né nhiều cách và hầu như luôn còn lối thoát.</a:t>
            </a:r>
            <a:endParaRPr lang="en-US" sz="1400" dirty="0"/>
          </a:p>
        </p:txBody>
      </p:sp>
      <p:sp>
        <p:nvSpPr>
          <p:cNvPr id="8" name="card-206"/>
          <p:cNvSpPr/>
          <p:nvPr/>
        </p:nvSpPr>
        <p:spPr>
          <a:xfrm>
            <a:off x="548640" y="5486400"/>
            <a:ext cx="3566160" cy="868680"/>
          </a:xfrm>
          <a:prstGeom prst="roundRect">
            <a:avLst>
              <a:gd name="adj" fmla="val 8421"/>
            </a:avLst>
          </a:prstGeom>
          <a:solidFill>
            <a:schemeClr val="bg2"/>
          </a:solidFill>
          <a:ln w="12700">
            <a:solidFill>
              <a:schemeClr val="bg2"/>
            </a:solidFill>
            <a:prstDash val="solid"/>
          </a:ln>
        </p:spPr>
      </p:sp>
      <p:sp>
        <p:nvSpPr>
          <p:cNvPr id="9" name="text-207"/>
          <p:cNvSpPr txBox="1"/>
          <p:nvPr/>
        </p:nvSpPr>
        <p:spPr>
          <a:xfrm>
            <a:off x="685800" y="5596128"/>
            <a:ext cx="1280160" cy="640080"/>
          </a:xfrm>
          <a:prstGeom prst="rect">
            <a:avLst/>
          </a:prstGeom>
          <a:noFill/>
          <a:ln/>
        </p:spPr>
        <p:txBody>
          <a:bodyPr wrap="square" lIns="0" tIns="0" rIns="0" bIns="0" rtlCol="0" anchor="ctr"/>
          <a:lstStyle/>
          <a:p>
            <a:pPr marL="0" indent="0">
              <a:buNone/>
            </a:pPr>
            <a:r>
              <a:rPr lang="en-US" sz="2400" b="1" dirty="0">
                <a:solidFill>
                  <a:schemeClr val="accent4"/>
                </a:solidFill>
                <a:latin typeface="+mj-lt" pitchFamily="34" charset="0"/>
                <a:ea typeface="+mj-lt" pitchFamily="34" charset="-122"/>
                <a:cs typeface="+mj-lt" pitchFamily="34" charset="-120"/>
              </a:rPr>
              <a:t>15.9%</a:t>
            </a:r>
            <a:endParaRPr lang="en-US" sz="2400" dirty="0"/>
          </a:p>
        </p:txBody>
      </p:sp>
      <p:sp>
        <p:nvSpPr>
          <p:cNvPr id="10" name="text-208"/>
          <p:cNvSpPr txBox="1"/>
          <p:nvPr/>
        </p:nvSpPr>
        <p:spPr>
          <a:xfrm>
            <a:off x="2011680" y="5559552"/>
            <a:ext cx="1965960" cy="731520"/>
          </a:xfrm>
          <a:prstGeom prst="rect">
            <a:avLst/>
          </a:prstGeom>
          <a:noFill/>
          <a:ln/>
        </p:spPr>
        <p:txBody>
          <a:bodyPr wrap="square" lIns="0" tIns="0" rIns="0" bIns="0" rtlCol="0" anchor="ctr"/>
          <a:lstStyle/>
          <a:p>
            <a:pPr marL="0" indent="0">
              <a:buNone/>
            </a:pPr>
            <a:r>
              <a:rPr lang="en-US" sz="1200" dirty="0">
                <a:solidFill>
                  <a:schemeClr val="tx1"/>
                </a:solidFill>
              </a:rPr>
              <a:t>trận hòa có kế hoạch giết nếu đoán đúng đối thủ (90.3% nếu giả định RuleBot)</a:t>
            </a:r>
            <a:endParaRPr lang="en-US" sz="1200" dirty="0"/>
          </a:p>
        </p:txBody>
      </p:sp>
      <p:sp>
        <p:nvSpPr>
          <p:cNvPr id="11" name="card-209"/>
          <p:cNvSpPr/>
          <p:nvPr/>
        </p:nvSpPr>
        <p:spPr>
          <a:xfrm>
            <a:off x="4311396" y="5486400"/>
            <a:ext cx="3566160" cy="868680"/>
          </a:xfrm>
          <a:prstGeom prst="roundRect">
            <a:avLst>
              <a:gd name="adj" fmla="val 8421"/>
            </a:avLst>
          </a:prstGeom>
          <a:solidFill>
            <a:schemeClr val="bg2"/>
          </a:solidFill>
          <a:ln w="12700">
            <a:solidFill>
              <a:schemeClr val="bg2"/>
            </a:solidFill>
            <a:prstDash val="solid"/>
          </a:ln>
        </p:spPr>
      </p:sp>
      <p:sp>
        <p:nvSpPr>
          <p:cNvPr id="12" name="text-210"/>
          <p:cNvSpPr txBox="1"/>
          <p:nvPr/>
        </p:nvSpPr>
        <p:spPr>
          <a:xfrm>
            <a:off x="4448556" y="5596128"/>
            <a:ext cx="1280160" cy="640080"/>
          </a:xfrm>
          <a:prstGeom prst="rect">
            <a:avLst/>
          </a:prstGeom>
          <a:noFill/>
          <a:ln/>
        </p:spPr>
        <p:txBody>
          <a:bodyPr wrap="square" lIns="0" tIns="0" rIns="0" bIns="0" rtlCol="0" anchor="ctr"/>
          <a:lstStyle/>
          <a:p>
            <a:pPr marL="0" indent="0">
              <a:buNone/>
            </a:pPr>
            <a:r>
              <a:rPr lang="en-US" sz="1700" b="1" dirty="0">
                <a:solidFill>
                  <a:schemeClr val="accent5"/>
                </a:solidFill>
                <a:latin typeface="+mj-lt" pitchFamily="34" charset="0"/>
                <a:ea typeface="+mj-lt" pitchFamily="34" charset="-122"/>
                <a:cs typeface="+mj-lt" pitchFamily="34" charset="-120"/>
              </a:rPr>
              <a:t>−1.4…−0.2</a:t>
            </a:r>
            <a:endParaRPr lang="en-US" sz="1700" dirty="0"/>
          </a:p>
        </p:txBody>
      </p:sp>
      <p:sp>
        <p:nvSpPr>
          <p:cNvPr id="13" name="text-211"/>
          <p:cNvSpPr txBox="1"/>
          <p:nvPr/>
        </p:nvSpPr>
        <p:spPr>
          <a:xfrm>
            <a:off x="5774436" y="5559552"/>
            <a:ext cx="1965960" cy="731520"/>
          </a:xfrm>
          <a:prstGeom prst="rect">
            <a:avLst/>
          </a:prstGeom>
          <a:noFill/>
          <a:ln/>
        </p:spPr>
        <p:txBody>
          <a:bodyPr wrap="square" lIns="0" tIns="0" rIns="0" bIns="0" rtlCol="0" anchor="ctr"/>
          <a:lstStyle/>
          <a:p>
            <a:pPr marL="0" indent="0">
              <a:buNone/>
            </a:pPr>
            <a:r>
              <a:rPr lang="en-US" sz="1200" dirty="0">
                <a:solidFill>
                  <a:schemeClr val="tx1"/>
                </a:solidFill>
              </a:rPr>
              <a:t>ActiveWR khi dời vòng co sớm hơn (pp): không giúp, hòa thành cùng chết</a:t>
            </a:r>
            <a:endParaRPr lang="en-US" sz="1200" dirty="0"/>
          </a:p>
        </p:txBody>
      </p:sp>
      <p:sp>
        <p:nvSpPr>
          <p:cNvPr id="14" name="card-212"/>
          <p:cNvSpPr/>
          <p:nvPr/>
        </p:nvSpPr>
        <p:spPr>
          <a:xfrm>
            <a:off x="8074152" y="5486400"/>
            <a:ext cx="3566160" cy="868680"/>
          </a:xfrm>
          <a:prstGeom prst="roundRect">
            <a:avLst>
              <a:gd name="adj" fmla="val 8421"/>
            </a:avLst>
          </a:prstGeom>
          <a:solidFill>
            <a:schemeClr val="bg2"/>
          </a:solidFill>
          <a:ln w="12700">
            <a:solidFill>
              <a:schemeClr val="bg2"/>
            </a:solidFill>
            <a:prstDash val="solid"/>
          </a:ln>
        </p:spPr>
      </p:sp>
      <p:sp>
        <p:nvSpPr>
          <p:cNvPr id="15" name="text-213"/>
          <p:cNvSpPr txBox="1"/>
          <p:nvPr/>
        </p:nvSpPr>
        <p:spPr>
          <a:xfrm>
            <a:off x="8211312" y="5596128"/>
            <a:ext cx="1280160" cy="640080"/>
          </a:xfrm>
          <a:prstGeom prst="rect">
            <a:avLst/>
          </a:prstGeom>
          <a:noFill/>
          <a:ln/>
        </p:spPr>
        <p:txBody>
          <a:bodyPr wrap="square" lIns="0" tIns="0" rIns="0" bIns="0" rtlCol="0" anchor="ctr"/>
          <a:lstStyle/>
          <a:p>
            <a:pPr marL="0" indent="0">
              <a:buNone/>
            </a:pPr>
            <a:r>
              <a:rPr lang="en-US" sz="2400" b="1" dirty="0">
                <a:solidFill>
                  <a:schemeClr val="accent6"/>
                </a:solidFill>
                <a:latin typeface="+mj-lt" pitchFamily="34" charset="0"/>
                <a:ea typeface="+mj-lt" pitchFamily="34" charset="-122"/>
                <a:cs typeface="+mj-lt" pitchFamily="34" charset="-120"/>
              </a:rPr>
              <a:t>−33</a:t>
            </a:r>
            <a:endParaRPr lang="en-US" sz="2400" dirty="0"/>
          </a:p>
        </p:txBody>
      </p:sp>
      <p:sp>
        <p:nvSpPr>
          <p:cNvPr id="16" name="text-214"/>
          <p:cNvSpPr txBox="1"/>
          <p:nvPr/>
        </p:nvSpPr>
        <p:spPr>
          <a:xfrm>
            <a:off x="9537192" y="5559552"/>
            <a:ext cx="1965960" cy="731520"/>
          </a:xfrm>
          <a:prstGeom prst="rect">
            <a:avLst/>
          </a:prstGeom>
          <a:noFill/>
          <a:ln/>
        </p:spPr>
        <p:txBody>
          <a:bodyPr wrap="square" lIns="0" tIns="0" rIns="0" bIns="0" rtlCol="0" anchor="ctr"/>
          <a:lstStyle/>
          <a:p>
            <a:pPr marL="0" indent="0">
              <a:buNone/>
            </a:pPr>
            <a:r>
              <a:rPr lang="en-US" sz="1200" dirty="0">
                <a:solidFill>
                  <a:schemeClr val="tx1"/>
                </a:solidFill>
              </a:rPr>
              <a:t>pp ActiveWR khi search luôn đoán đối thủ bằng CNN rồi đấu RuleBot</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Sang FFA được, đổi cỡ bàn thì phải chưng cất lại</a:t>
            </a:r>
            <a:endParaRPr lang="en-US" sz="3000" dirty="0"/>
          </a:p>
        </p:txBody>
      </p:sp>
      <p:graphicFrame>
        <p:nvGraphicFramePr>
          <p:cNvPr id="3" name="Chart 0"/>
          <p:cNvGraphicFramePr/>
          <p:nvPr/>
        </p:nvGraphicFramePr>
        <p:xfrm>
          <a:off x="548640" y="1280160"/>
          <a:ext cx="448056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5303520" y="1280160"/>
          <a:ext cx="630936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5" name="card-215"/>
          <p:cNvSpPr/>
          <p:nvPr/>
        </p:nvSpPr>
        <p:spPr>
          <a:xfrm>
            <a:off x="548640" y="4846320"/>
            <a:ext cx="3566160" cy="1508760"/>
          </a:xfrm>
          <a:prstGeom prst="roundRect">
            <a:avLst>
              <a:gd name="adj" fmla="val 4848"/>
            </a:avLst>
          </a:prstGeom>
          <a:solidFill>
            <a:schemeClr val="bg2"/>
          </a:solidFill>
          <a:ln w="12700">
            <a:solidFill>
              <a:schemeClr val="bg2"/>
            </a:solidFill>
            <a:prstDash val="solid"/>
          </a:ln>
        </p:spPr>
      </p:sp>
      <p:sp>
        <p:nvSpPr>
          <p:cNvPr id="6" name="text-216"/>
          <p:cNvSpPr txBox="1"/>
          <p:nvPr/>
        </p:nvSpPr>
        <p:spPr>
          <a:xfrm>
            <a:off x="731520" y="4956048"/>
            <a:ext cx="3200400"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FFA từ dữ liệu 1v1</a:t>
            </a:r>
            <a:endParaRPr lang="en-US" sz="1500" dirty="0"/>
          </a:p>
        </p:txBody>
      </p:sp>
      <p:sp>
        <p:nvSpPr>
          <p:cNvPr id="7" name="text-217"/>
          <p:cNvSpPr txBox="1"/>
          <p:nvPr/>
        </p:nvSpPr>
        <p:spPr>
          <a:xfrm>
            <a:off x="731520" y="5303520"/>
            <a:ext cx="3200400" cy="1005840"/>
          </a:xfrm>
          <a:prstGeom prst="rect">
            <a:avLst/>
          </a:prstGeom>
          <a:noFill/>
          <a:ln/>
        </p:spPr>
        <p:txBody>
          <a:bodyPr wrap="square" lIns="0" tIns="0" rIns="0" bIns="0" rtlCol="0" anchor="t"/>
          <a:lstStyle/>
          <a:p>
            <a:pPr marL="0" indent="0">
              <a:buNone/>
            </a:pPr>
            <a:r>
              <a:rPr lang="en-US" sz="1300" dirty="0">
                <a:solidFill>
                  <a:schemeClr val="tx1"/>
                </a:solidFill>
              </a:rPr>
              <a:t>S3 82.8 so với G 36.1: +46.7 [+36.1, +56.7], seed 59000. Học trò chỉ thấy ván 1v1.</a:t>
            </a:r>
            <a:endParaRPr lang="en-US" sz="1300" dirty="0"/>
          </a:p>
        </p:txBody>
      </p:sp>
      <p:sp>
        <p:nvSpPr>
          <p:cNvPr id="8" name="card-218"/>
          <p:cNvSpPr/>
          <p:nvPr/>
        </p:nvSpPr>
        <p:spPr>
          <a:xfrm>
            <a:off x="4311396" y="4846320"/>
            <a:ext cx="3566160" cy="1508760"/>
          </a:xfrm>
          <a:prstGeom prst="roundRect">
            <a:avLst>
              <a:gd name="adj" fmla="val 4848"/>
            </a:avLst>
          </a:prstGeom>
          <a:solidFill>
            <a:schemeClr val="bg2"/>
          </a:solidFill>
          <a:ln w="12700">
            <a:solidFill>
              <a:schemeClr val="bg2"/>
            </a:solidFill>
            <a:prstDash val="solid"/>
          </a:ln>
        </p:spPr>
      </p:sp>
      <p:sp>
        <p:nvSpPr>
          <p:cNvPr id="9" name="text-219"/>
          <p:cNvSpPr txBox="1"/>
          <p:nvPr/>
        </p:nvSpPr>
        <p:spPr>
          <a:xfrm>
            <a:off x="4494276" y="4956048"/>
            <a:ext cx="3200400"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Nội suy sang 11×11</a:t>
            </a:r>
            <a:endParaRPr lang="en-US" sz="1500" dirty="0"/>
          </a:p>
        </p:txBody>
      </p:sp>
      <p:sp>
        <p:nvSpPr>
          <p:cNvPr id="10" name="text-220"/>
          <p:cNvSpPr txBox="1"/>
          <p:nvPr/>
        </p:nvSpPr>
        <p:spPr>
          <a:xfrm>
            <a:off x="4494276" y="5303520"/>
            <a:ext cx="3200400" cy="1005840"/>
          </a:xfrm>
          <a:prstGeom prst="rect">
            <a:avLst/>
          </a:prstGeom>
          <a:noFill/>
          <a:ln/>
        </p:spPr>
        <p:txBody>
          <a:bodyPr wrap="square" lIns="0" tIns="0" rIns="0" bIns="0" rtlCol="0" anchor="t"/>
          <a:lstStyle/>
          <a:p>
            <a:pPr marL="0" indent="0">
              <a:buNone/>
            </a:pPr>
            <a:r>
              <a:rPr lang="en-US" sz="1300" dirty="0">
                <a:solidFill>
                  <a:schemeClr val="tx1"/>
                </a:solidFill>
              </a:rPr>
              <a:t>S3 25.0, +7.5 [−1.9, +16.9] so với G: chưa rõ hơn. Chưng cất lại trên 11×11 (S3-11): 59.4, +41.9 [+31.9, +51.9].</a:t>
            </a:r>
            <a:endParaRPr lang="en-US" sz="1300" dirty="0"/>
          </a:p>
        </p:txBody>
      </p:sp>
      <p:sp>
        <p:nvSpPr>
          <p:cNvPr id="11" name="card-221"/>
          <p:cNvSpPr/>
          <p:nvPr/>
        </p:nvSpPr>
        <p:spPr>
          <a:xfrm>
            <a:off x="8074152" y="4846320"/>
            <a:ext cx="3566160" cy="1508760"/>
          </a:xfrm>
          <a:prstGeom prst="roundRect">
            <a:avLst>
              <a:gd name="adj" fmla="val 4848"/>
            </a:avLst>
          </a:prstGeom>
          <a:solidFill>
            <a:schemeClr val="bg2"/>
          </a:solidFill>
          <a:ln w="12700">
            <a:solidFill>
              <a:schemeClr val="bg2"/>
            </a:solidFill>
            <a:prstDash val="solid"/>
          </a:ln>
        </p:spPr>
      </p:sp>
      <p:sp>
        <p:nvSpPr>
          <p:cNvPr id="12" name="text-222"/>
          <p:cNvSpPr txBox="1"/>
          <p:nvPr/>
        </p:nvSpPr>
        <p:spPr>
          <a:xfrm>
            <a:off x="8257032" y="4956048"/>
            <a:ext cx="3200400"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1v1 11×11 và giới hạn</a:t>
            </a:r>
            <a:endParaRPr lang="en-US" sz="1500" dirty="0"/>
          </a:p>
        </p:txBody>
      </p:sp>
      <p:sp>
        <p:nvSpPr>
          <p:cNvPr id="13" name="text-223"/>
          <p:cNvSpPr txBox="1"/>
          <p:nvPr/>
        </p:nvSpPr>
        <p:spPr>
          <a:xfrm>
            <a:off x="8257032" y="5303520"/>
            <a:ext cx="3200400" cy="1005840"/>
          </a:xfrm>
          <a:prstGeom prst="rect">
            <a:avLst/>
          </a:prstGeom>
          <a:noFill/>
          <a:ln/>
        </p:spPr>
        <p:txBody>
          <a:bodyPr wrap="square" lIns="0" tIns="0" rIns="0" bIns="0" rtlCol="0" anchor="t"/>
          <a:lstStyle/>
          <a:p>
            <a:pPr marL="0" indent="0">
              <a:buNone/>
            </a:pPr>
            <a:r>
              <a:rPr lang="en-US" sz="1300" dirty="0">
                <a:solidFill>
                  <a:schemeClr val="tx1"/>
                </a:solidFill>
              </a:rPr>
              <a:t>46.25 → 87.25 trước RuleBot (+41.0). Trước pool CNN chỉ +3.83 [1.92, 5.83], dưới gate: hòa vẫn do cấu trúc.</a:t>
            </a:r>
            <a:endParaRPr lang="en-US" sz="13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text-224"/>
          <p:cNvSpPr txBox="1"/>
          <p:nvPr/>
        </p:nvSpPr>
        <p:spPr>
          <a:xfrm>
            <a:off x="640080" y="411480"/>
            <a:ext cx="10881360" cy="822960"/>
          </a:xfrm>
          <a:prstGeom prst="rect">
            <a:avLst/>
          </a:prstGeom>
          <a:noFill/>
          <a:ln/>
        </p:spPr>
        <p:txBody>
          <a:bodyPr wrap="square" lIns="0" tIns="0" rIns="0" bIns="0" rtlCol="0" anchor="ctr"/>
          <a:lstStyle/>
          <a:p>
            <a:pPr marL="0" indent="0">
              <a:buNone/>
            </a:pPr>
            <a:r>
              <a:rPr lang="en-US" sz="3200" b="1" dirty="0">
                <a:solidFill>
                  <a:schemeClr val="bg1"/>
                </a:solidFill>
              </a:rPr>
              <a:t>Kết luận: đo đúng, search làm thầy, chưng cất vào CNN</a:t>
            </a:r>
            <a:endParaRPr lang="en-US" sz="3200" dirty="0"/>
          </a:p>
        </p:txBody>
      </p:sp>
      <p:sp>
        <p:nvSpPr>
          <p:cNvPr id="3" name="text-225"/>
          <p:cNvSpPr txBox="1"/>
          <p:nvPr/>
        </p:nvSpPr>
        <p:spPr>
          <a:xfrm>
            <a:off x="640080" y="1463040"/>
            <a:ext cx="6035040" cy="365760"/>
          </a:xfrm>
          <a:prstGeom prst="rect">
            <a:avLst/>
          </a:prstGeom>
          <a:noFill/>
          <a:ln/>
        </p:spPr>
        <p:txBody>
          <a:bodyPr wrap="square" lIns="0" tIns="0" rIns="0" bIns="0" rtlCol="0" anchor="t"/>
          <a:lstStyle/>
          <a:p>
            <a:pPr marL="0" indent="0">
              <a:buNone/>
            </a:pPr>
            <a:r>
              <a:rPr lang="en-US" sz="2000" b="1" dirty="0">
                <a:solidFill>
                  <a:schemeClr val="accent3"/>
                </a:solidFill>
                <a:latin typeface="+mj-lt" pitchFamily="34" charset="0"/>
                <a:ea typeface="+mj-lt" pitchFamily="34" charset="-122"/>
                <a:cs typeface="+mj-lt" pitchFamily="34" charset="-120"/>
              </a:rPr>
              <a:t>Đã chứng minh</a:t>
            </a:r>
            <a:endParaRPr lang="en-US" sz="2000" dirty="0"/>
          </a:p>
        </p:txBody>
      </p:sp>
      <p:sp>
        <p:nvSpPr>
          <p:cNvPr id="4" name="text-226"/>
          <p:cNvSpPr txBox="1"/>
          <p:nvPr/>
        </p:nvSpPr>
        <p:spPr>
          <a:xfrm>
            <a:off x="640080" y="1920240"/>
            <a:ext cx="6035040" cy="30175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ActiveWR tách thắng thụ động khỏi hạ gục: WR đánh giá quá cao ba can thiệp từ 3.75 đến 16 pp.</a:t>
            </a:r>
            <a:endParaRPr lang="en-US" sz="1700" dirty="0"/>
          </a:p>
          <a:p>
            <a:pPr marL="342900" indent="-342900">
              <a:spcAft>
                <a:spcPts val="900"/>
              </a:spcAft>
              <a:buSzPct val="100000"/>
              <a:buChar char="•"/>
            </a:pPr>
            <a:r>
              <a:rPr lang="en-US" sz="1700" dirty="0">
                <a:solidFill>
                  <a:schemeClr val="bg1"/>
                </a:solidFill>
              </a:rPr>
              <a:t>Search viết tay cộng chưng cất dày đưa một CNN từ 48.25 lên 92.25 ActiveWR, kém thầy 1.75 điểm.</a:t>
            </a:r>
            <a:endParaRPr lang="en-US" sz="1700" dirty="0"/>
          </a:p>
          <a:p>
            <a:pPr marL="342900" indent="-342900">
              <a:spcAft>
                <a:spcPts val="900"/>
              </a:spcAft>
              <a:buSzPct val="100000"/>
              <a:buChar char="•"/>
            </a:pPr>
            <a:r>
              <a:rPr lang="en-US" sz="1700" dirty="0">
                <a:solidFill>
                  <a:schemeClr val="bg1"/>
                </a:solidFill>
              </a:rPr>
              <a:t>Hơn chục cải tiến RL chuẩn trượt gate; RL tiếp sau chưng cất xóa kỹ năng.</a:t>
            </a:r>
            <a:endParaRPr lang="en-US" sz="1700" dirty="0"/>
          </a:p>
          <a:p>
            <a:pPr marL="342900" indent="-342900">
              <a:spcAft>
                <a:spcPts val="900"/>
              </a:spcAft>
              <a:buSzPct val="100000"/>
              <a:buChar char="•"/>
            </a:pPr>
            <a:r>
              <a:rPr lang="en-US" sz="1700" dirty="0">
                <a:solidFill>
                  <a:schemeClr val="bg1"/>
                </a:solidFill>
              </a:rPr>
              <a:t>Hòa giữa agent mạnh chủ yếu do cấu trúc: chỉ 15.9% trận hòa có kế hoạch giết.</a:t>
            </a:r>
            <a:endParaRPr lang="en-US" sz="1700" dirty="0"/>
          </a:p>
        </p:txBody>
      </p:sp>
      <p:sp>
        <p:nvSpPr>
          <p:cNvPr id="5" name="text-227"/>
          <p:cNvSpPr txBox="1"/>
          <p:nvPr/>
        </p:nvSpPr>
        <p:spPr>
          <a:xfrm>
            <a:off x="640080" y="5074920"/>
            <a:ext cx="6035040" cy="731520"/>
          </a:xfrm>
          <a:prstGeom prst="rect">
            <a:avLst/>
          </a:prstGeom>
          <a:noFill/>
          <a:ln/>
        </p:spPr>
        <p:txBody>
          <a:bodyPr wrap="square" lIns="0" tIns="0" rIns="0" bIns="0" rtlCol="0" anchor="t"/>
          <a:lstStyle/>
          <a:p>
            <a:pPr marL="0" indent="0">
              <a:buNone/>
            </a:pPr>
            <a:r>
              <a:rPr lang="en-US" sz="4400" b="1" dirty="0">
                <a:solidFill>
                  <a:schemeClr val="accent3"/>
                </a:solidFill>
                <a:latin typeface="+mj-lt" pitchFamily="34" charset="0"/>
                <a:ea typeface="+mj-lt" pitchFamily="34" charset="-122"/>
                <a:cs typeface="+mj-lt" pitchFamily="34" charset="-120"/>
              </a:rPr>
              <a:t>48.25 → 92.25</a:t>
            </a:r>
            <a:endParaRPr lang="en-US" sz="4400" dirty="0"/>
          </a:p>
        </p:txBody>
      </p:sp>
      <p:sp>
        <p:nvSpPr>
          <p:cNvPr id="6" name="text-228"/>
          <p:cNvSpPr txBox="1"/>
          <p:nvPr/>
        </p:nvSpPr>
        <p:spPr>
          <a:xfrm>
            <a:off x="640080" y="5806440"/>
            <a:ext cx="6035040" cy="365760"/>
          </a:xfrm>
          <a:prstGeom prst="rect">
            <a:avLst/>
          </a:prstGeom>
          <a:noFill/>
          <a:ln/>
        </p:spPr>
        <p:txBody>
          <a:bodyPr wrap="square" lIns="0" tIns="0" rIns="0" bIns="0" rtlCol="0" anchor="t"/>
          <a:lstStyle/>
          <a:p>
            <a:pPr marL="0" indent="0">
              <a:buNone/>
            </a:pPr>
            <a:r>
              <a:rPr lang="en-US" sz="1400" dirty="0">
                <a:solidFill>
                  <a:schemeClr val="bg2"/>
                </a:solidFill>
              </a:rPr>
              <a:t>ActiveWR của CNN thuần: từ policy RL tốt nhất (G) đến S3</a:t>
            </a:r>
            <a:endParaRPr lang="en-US" sz="1400" dirty="0"/>
          </a:p>
        </p:txBody>
      </p:sp>
      <p:sp>
        <p:nvSpPr>
          <p:cNvPr id="7" name="card-229"/>
          <p:cNvSpPr/>
          <p:nvPr/>
        </p:nvSpPr>
        <p:spPr>
          <a:xfrm>
            <a:off x="7086600" y="1463040"/>
            <a:ext cx="4553712" cy="4846320"/>
          </a:xfrm>
          <a:prstGeom prst="roundRect">
            <a:avLst>
              <a:gd name="adj" fmla="val 1606"/>
            </a:avLst>
          </a:prstGeom>
          <a:solidFill>
            <a:schemeClr val="accent4">
              <a:alpha val="55000"/>
            </a:schemeClr>
          </a:solidFill>
          <a:ln w="12700">
            <a:solidFill>
              <a:schemeClr val="accent4"/>
            </a:solidFill>
            <a:prstDash val="solid"/>
          </a:ln>
        </p:spPr>
      </p:sp>
      <p:sp>
        <p:nvSpPr>
          <p:cNvPr id="8" name="text-230"/>
          <p:cNvSpPr txBox="1"/>
          <p:nvPr/>
        </p:nvSpPr>
        <p:spPr>
          <a:xfrm>
            <a:off x="7360920" y="1645920"/>
            <a:ext cx="4005072" cy="365760"/>
          </a:xfrm>
          <a:prstGeom prst="rect">
            <a:avLst/>
          </a:prstGeom>
          <a:noFill/>
          <a:ln/>
        </p:spPr>
        <p:txBody>
          <a:bodyPr wrap="square" lIns="0" tIns="0" rIns="0" bIns="0" rtlCol="0" anchor="t"/>
          <a:lstStyle/>
          <a:p>
            <a:pPr marL="0" indent="0">
              <a:buNone/>
            </a:pPr>
            <a:r>
              <a:rPr lang="en-US" sz="1800" b="1" dirty="0">
                <a:solidFill>
                  <a:schemeClr val="bg1"/>
                </a:solidFill>
                <a:latin typeface="+mj-lt" pitchFamily="34" charset="0"/>
                <a:ea typeface="+mj-lt" pitchFamily="34" charset="-122"/>
                <a:cs typeface="+mj-lt" pitchFamily="34" charset="-120"/>
              </a:rPr>
              <a:t>Giới hạn</a:t>
            </a:r>
            <a:endParaRPr lang="en-US" sz="1800" dirty="0"/>
          </a:p>
        </p:txBody>
      </p:sp>
      <p:sp>
        <p:nvSpPr>
          <p:cNvPr id="9" name="text-231"/>
          <p:cNvSpPr txBox="1"/>
          <p:nvPr/>
        </p:nvSpPr>
        <p:spPr>
          <a:xfrm>
            <a:off x="7360920" y="2103120"/>
            <a:ext cx="4005072"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Các nhánh RL chỉ có một train seed.</a:t>
            </a:r>
            <a:endParaRPr lang="en-US" sz="1500" dirty="0"/>
          </a:p>
          <a:p>
            <a:pPr marL="342900" indent="-342900">
              <a:spcAft>
                <a:spcPts val="600"/>
              </a:spcAft>
              <a:buSzPct val="100000"/>
              <a:buChar char="•"/>
            </a:pPr>
            <a:r>
              <a:rPr lang="en-US" sz="1500" dirty="0">
                <a:solidFill>
                  <a:schemeClr val="bg1"/>
                </a:solidFill>
              </a:rPr>
              <a:t>Search giả định đối thủ là RuleBot; trước CNN lợi thế mất phần lớn.</a:t>
            </a:r>
            <a:endParaRPr lang="en-US" sz="1500" dirty="0"/>
          </a:p>
          <a:p>
            <a:pPr marL="342900" indent="-342900">
              <a:spcAft>
                <a:spcPts val="600"/>
              </a:spcAft>
              <a:buSzPct val="100000"/>
              <a:buChar char="•"/>
            </a:pPr>
            <a:r>
              <a:rPr lang="en-US" sz="1500" dirty="0">
                <a:solidFill>
                  <a:schemeClr val="bg1"/>
                </a:solidFill>
              </a:rPr>
              <a:t>Chưa chạy trên Pommerman chính thức.</a:t>
            </a:r>
            <a:endParaRPr lang="en-US" sz="1500" dirty="0"/>
          </a:p>
        </p:txBody>
      </p:sp>
      <p:sp>
        <p:nvSpPr>
          <p:cNvPr id="10" name="text-232"/>
          <p:cNvSpPr txBox="1"/>
          <p:nvPr/>
        </p:nvSpPr>
        <p:spPr>
          <a:xfrm>
            <a:off x="7360920" y="4114800"/>
            <a:ext cx="4005072" cy="365760"/>
          </a:xfrm>
          <a:prstGeom prst="rect">
            <a:avLst/>
          </a:prstGeom>
          <a:noFill/>
          <a:ln/>
        </p:spPr>
        <p:txBody>
          <a:bodyPr wrap="square" lIns="0" tIns="0" rIns="0" bIns="0" rtlCol="0" anchor="t"/>
          <a:lstStyle/>
          <a:p>
            <a:pPr marL="0" indent="0">
              <a:buNone/>
            </a:pPr>
            <a:r>
              <a:rPr lang="en-US" sz="1800" b="1" dirty="0">
                <a:solidFill>
                  <a:schemeClr val="bg1"/>
                </a:solidFill>
                <a:latin typeface="+mj-lt" pitchFamily="34" charset="0"/>
                <a:ea typeface="+mj-lt" pitchFamily="34" charset="-122"/>
                <a:cs typeface="+mj-lt" pitchFamily="34" charset="-120"/>
              </a:rPr>
              <a:t>Hướng tiếp theo</a:t>
            </a:r>
            <a:endParaRPr lang="en-US" sz="1800" dirty="0"/>
          </a:p>
        </p:txBody>
      </p:sp>
      <p:sp>
        <p:nvSpPr>
          <p:cNvPr id="11" name="text-233"/>
          <p:cNvSpPr txBox="1"/>
          <p:nvPr/>
        </p:nvSpPr>
        <p:spPr>
          <a:xfrm>
            <a:off x="7360920" y="4572000"/>
            <a:ext cx="4005072"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SD10: chưng cất search đoán đối thủ bằng CNN (code xong, thu dữ liệu ~53 giờ, chưa chạy).</a:t>
            </a:r>
            <a:endParaRPr lang="en-US" sz="1500" dirty="0"/>
          </a:p>
          <a:p>
            <a:pPr marL="342900" indent="-342900">
              <a:spcAft>
                <a:spcPts val="600"/>
              </a:spcAft>
              <a:buSzPct val="100000"/>
              <a:buChar char="•"/>
            </a:pPr>
            <a:r>
              <a:rPr lang="en-US" sz="1500" dirty="0">
                <a:solidFill>
                  <a:schemeClr val="bg1"/>
                </a:solidFill>
              </a:rPr>
              <a:t>Đổi luật: vòng cuối không lấp kín bàn, trận dài hơn.</a:t>
            </a:r>
            <a:endParaRPr lang="en-US" sz="1500" dirty="0"/>
          </a:p>
        </p:txBody>
      </p:sp>
      <p:sp>
        <p:nvSpPr>
          <p:cNvPr id="13" name="Text 0"/>
          <p:cNvSpPr>
            <a:spLocks noGrp="1"/>
          </p:cNvSpPr>
          <p:nvPr>
            <p:ph type="title" idx="100" hasCustomPrompt="1"/>
          </p:nvPr>
        </p:nvSpPr>
        <p:spPr>
          <a:xfrm>
            <a:off x="640080" y="1554480"/>
            <a:ext cx="6035040" cy="2286000"/>
          </a:xfrm>
          <a:prstGeom prst="rect">
            <a:avLst/>
          </a:prstGeom>
          <a:noFill/>
          <a:ln/>
        </p:spPr>
        <p:txBody>
          <a:bodyPr wrap="square" lIns="0" tIns="0" rIns="0" bIns="0" rtlCol="0" anchor="t"/>
          <a:lstStyle/>
          <a:p>
            <a:pPr marL="0" indent="0" algn="l">
              <a:buNone/>
            </a:pPr>
            <a:endParaRPr lang="en-US" sz="44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Phụ lục A: kết quả đầy đủ trước RuleBot (Bảng III)</a:t>
            </a:r>
            <a:endParaRPr lang="en-US" sz="3000" dirty="0"/>
          </a:p>
        </p:txBody>
      </p:sp>
      <p:graphicFrame>
        <p:nvGraphicFramePr>
          <p:cNvPr id="20" name="table-237"/>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840480"/>
        </p:xfrm>
        <a:graphic>
          <a:graphicData uri="http://schemas.openxmlformats.org/drawingml/2006/table">
            <a:tbl>
              <a:tblPr/>
              <a:tblGrid>
                <a:gridCol w="8229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850392">
                  <a:extLst>
                    <a:ext uri="{9D8B030D-6E8A-4147-A177-3AD203B41FA5}">
                      <a16:colId xmlns:a16="http://schemas.microsoft.com/office/drawing/2014/main" val="20008"/>
                    </a:ext>
                  </a:extLst>
                </a:gridCol>
              </a:tblGrid>
              <a:tr h="384048">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Mô tả</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Khối test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ActiveWR % [CI95]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WR %</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Thụ động/vòng %</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Hòa %</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Tự nổ %</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Bước TB</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B</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PG có mask + teacher</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60000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40.0 [35.0, 45.0]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64.0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24.0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357</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F</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B + ~3,000 episode RL</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43000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44.25 [39.25, 49.25]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63.5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19.25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25.0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340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G</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F + advantage theo nhóm</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46000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48.25 [43.5, 53.25]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69.0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20.75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23.25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335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G+s1</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G + kill-search độ sâu 1</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46000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64.75 [60.25, 69.25]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84.0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19.25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15.25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287</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G+s2</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G + kill-search độ sâu 2</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47000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82.0 [78.25, 85.75]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93.75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11.75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5.75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208</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G+s3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G + kill-search độ sâu 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49000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94.0 [91.75, 96.25]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99.5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5.5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114</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S</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chưng cất F+s1 (vòng 1)</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43000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60.5 [55.25, 65.75]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78.5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18.0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18.0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279</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S2</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chưng cất G+s2 (vòng 2)</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48000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83.0 [79.5, 86.5]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90.25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7.25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7.0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211</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84048">
                <a:tc>
                  <a:txBody>
                    <a:bodyPr/>
                    <a:lstStyle/>
                    <a:p>
                      <a:pPr marL="0" indent="0" algn="l">
                        <a:buNone/>
                      </a:pPr>
                      <a:r>
                        <a:rPr lang="en-US" sz="1200" b="1" dirty="0">
                          <a:solidFill>
                            <a:schemeClr val="tx1"/>
                          </a:solidFill>
                          <a:latin typeface="+mn-lt" pitchFamily="34" charset="0"/>
                          <a:ea typeface="+mn-lt" pitchFamily="34" charset="-122"/>
                          <a:cs typeface="+mn-lt" pitchFamily="34" charset="-120"/>
                        </a:rPr>
                        <a:t>S3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l">
                        <a:buNone/>
                      </a:pPr>
                      <a:r>
                        <a:rPr lang="en-US" sz="1200" dirty="0">
                          <a:solidFill>
                            <a:schemeClr val="tx1"/>
                          </a:solidFill>
                          <a:latin typeface="+mn-lt" pitchFamily="34" charset="0"/>
                          <a:ea typeface="+mn-lt" pitchFamily="34" charset="-122"/>
                          <a:cs typeface="+mn-lt" pitchFamily="34" charset="-120"/>
                        </a:rPr>
                        <a:t>chưng cất S2+s3 (vòng 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57000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b="1" dirty="0">
                          <a:solidFill>
                            <a:schemeClr val="tx1"/>
                          </a:solidFill>
                          <a:latin typeface="+mn-lt" pitchFamily="34" charset="0"/>
                          <a:ea typeface="+mn-lt" pitchFamily="34" charset="-122"/>
                          <a:cs typeface="+mn-lt" pitchFamily="34" charset="-120"/>
                        </a:rPr>
                        <a:t>92.25 [89.5, 94.75]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98.0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5.75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0.25</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lgn="ctr">
                        <a:buNone/>
                      </a:pPr>
                      <a:r>
                        <a:rPr lang="en-US" sz="1200" dirty="0">
                          <a:solidFill>
                            <a:schemeClr val="tx1"/>
                          </a:solidFill>
                          <a:latin typeface="+mn-lt" pitchFamily="34" charset="0"/>
                          <a:ea typeface="+mn-lt" pitchFamily="34" charset="-122"/>
                          <a:cs typeface="+mn-lt" pitchFamily="34" charset="-120"/>
                        </a:rPr>
                        <a:t>131</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text-238"/>
          <p:cNvSpPr txBox="1"/>
          <p:nvPr/>
        </p:nvSpPr>
        <p:spPr>
          <a:xfrm>
            <a:off x="548640" y="5760720"/>
            <a:ext cx="11091672" cy="640080"/>
          </a:xfrm>
          <a:prstGeom prst="rect">
            <a:avLst/>
          </a:prstGeom>
          <a:noFill/>
          <a:ln/>
        </p:spPr>
        <p:txBody>
          <a:bodyPr wrap="square" lIns="0" tIns="0" rIns="0" bIns="0" rtlCol="0" anchor="t"/>
          <a:lstStyle/>
          <a:p>
            <a:pPr marL="0" indent="0">
              <a:buNone/>
            </a:pPr>
            <a:r>
              <a:rPr lang="en-US" sz="1200" dirty="0">
                <a:solidFill>
                  <a:schemeClr val="accent5"/>
                </a:solidFill>
              </a:rPr>
              <a:t>Mỗi hàng dùng khối test riêng, dùng một lần (400 trận mỗi model, lịch E). B ở bảng này là B đo dưới lịch E trên khối kiểm chéo 60000; lần xác nhận đầu tiên của B (khối 32000, trước khi có sudden death) là 32.75 [28.25, 37.5].</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Phụ lục B: ablation và kết quả âm có kiểm soát (Bảng V)</a:t>
            </a:r>
            <a:endParaRPr lang="en-US" sz="3000" dirty="0"/>
          </a:p>
        </p:txBody>
      </p:sp>
      <p:graphicFrame>
        <p:nvGraphicFramePr>
          <p:cNvPr id="21" name="table-239"/>
          <p:cNvGraphicFramePr>
            <a:graphicFrameLocks noGrp="1"/>
          </p:cNvGraphicFramePr>
          <p:nvPr>
            <p:extLst>
              <p:ext uri="{D42A27DB-BD31-4B8C-83A1-F6EECF244321}">
                <p14:modId xmlns:p14="http://schemas.microsoft.com/office/powerpoint/2010/main" val="1579011935"/>
              </p:ext>
            </p:extLst>
          </p:nvPr>
        </p:nvGraphicFramePr>
        <p:xfrm>
          <a:off x="548640" y="1325880"/>
          <a:ext cx="5440680" cy="4352544"/>
        </p:xfrm>
        <a:graphic>
          <a:graphicData uri="http://schemas.openxmlformats.org/drawingml/2006/table">
            <a:tbl>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310896">
                <a:tc>
                  <a:txBody>
                    <a:bodyPr/>
                    <a:lstStyle/>
                    <a:p>
                      <a:pPr marL="0" indent="0" algn="l">
                        <a:buNone/>
                      </a:pPr>
                      <a:r>
                        <a:rPr lang="en-US" sz="1100" b="1" dirty="0">
                          <a:solidFill>
                            <a:schemeClr val="bg1"/>
                          </a:solidFill>
                          <a:latin typeface="+mn-lt" pitchFamily="34" charset="0"/>
                          <a:ea typeface="+mn-lt" pitchFamily="34" charset="-122"/>
                          <a:cs typeface="+mn-lt" pitchFamily="34" charset="-120"/>
                        </a:rPr>
                        <a:t>Thay đổi (một biến)</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100" b="1" dirty="0">
                          <a:solidFill>
                            <a:schemeClr val="bg1"/>
                          </a:solidFill>
                          <a:latin typeface="+mn-lt" pitchFamily="34" charset="0"/>
                          <a:ea typeface="+mn-lt" pitchFamily="34" charset="-122"/>
                          <a:cs typeface="+mn-lt" pitchFamily="34" charset="-120"/>
                        </a:rPr>
                        <a:t>ΔActiveWR [CI95]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100" b="1" dirty="0">
                          <a:solidFill>
                            <a:schemeClr val="bg1"/>
                          </a:solidFill>
                          <a:latin typeface="+mn-lt" pitchFamily="34" charset="0"/>
                          <a:ea typeface="+mn-lt" pitchFamily="34" charset="-122"/>
                          <a:cs typeface="+mn-lt" pitchFamily="34" charset="-120"/>
                        </a:rPr>
                        <a:t>Kết quả</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10896">
                <a:tc gridSpan="3">
                  <a:txBody>
                    <a:bodyPr/>
                    <a:lstStyle/>
                    <a:p>
                      <a:pPr marL="0" indent="0">
                        <a:buNone/>
                      </a:pPr>
                      <a:r>
                        <a:rPr lang="en-US" sz="1100" b="1" dirty="0">
                          <a:solidFill>
                            <a:schemeClr val="accent4"/>
                          </a:solidFill>
                          <a:latin typeface="+mn-lt" pitchFamily="34" charset="0"/>
                          <a:ea typeface="+mn-lt" pitchFamily="34" charset="-122"/>
                          <a:cs typeface="+mn-lt" pitchFamily="34" charset="-120"/>
                        </a:rPr>
                        <a:t>Từ B, 200 episode</a:t>
                      </a:r>
                      <a:endParaRPr lang="en-US" sz="1100" dirty="0">
                        <a:latin typeface="+mn-lt" charset="0"/>
                        <a:ea typeface="+mn-lt" charset="0"/>
                        <a:cs typeface="+mn-lt" charset="0"/>
                      </a:endParaRPr>
                    </a:p>
                  </a:txBody>
                  <a:tcPr marL="54864" marR="54864" marT="18288" marB="18288">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Teacher tấn công local</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+1.5 [−4.5, 7.25]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Teacher hai bom</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0.0 (best = xuất phát)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RL đối chứng (best ep 400)</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+2.25 [−3.25, 8.0]</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Hướng dẫn MOVE chiến đấu</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+5.25 [−1.5, 12.0]</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 (CI)</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Chuẩn hóa advantage</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+0.25 [−5.5, 6.0]</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6"/>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GAE λ = 0.95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0.0 (best = xuất phát)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7"/>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Nửa thưởng phá tường</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+0.5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8"/>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PPO clip 0.2, 4 epoch</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−5.5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9"/>
                  </a:ext>
                </a:extLst>
              </a:tr>
              <a:tr h="310896">
                <a:tc gridSpan="3">
                  <a:txBody>
                    <a:bodyPr/>
                    <a:lstStyle/>
                    <a:p>
                      <a:pPr marL="0" indent="0">
                        <a:buNone/>
                      </a:pPr>
                      <a:r>
                        <a:rPr lang="en-US" sz="1100" b="1" dirty="0">
                          <a:solidFill>
                            <a:schemeClr val="accent4"/>
                          </a:solidFill>
                          <a:latin typeface="+mn-lt" pitchFamily="34" charset="0"/>
                          <a:ea typeface="+mn-lt" pitchFamily="34" charset="-122"/>
                          <a:cs typeface="+mn-lt" pitchFamily="34" charset="-120"/>
                        </a:rPr>
                        <a:t>Sudden death</a:t>
                      </a:r>
                      <a:endParaRPr lang="en-US" sz="1100" dirty="0">
                        <a:latin typeface="+mn-lt" charset="0"/>
                        <a:ea typeface="+mn-lt" charset="0"/>
                        <a:cs typeface="+mn-lt" charset="0"/>
                      </a:endParaRPr>
                    </a:p>
                  </a:txBody>
                  <a:tcPr marL="54864" marR="54864" marT="18288" marB="18288">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Train dưới SD, 12 kênh</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−2.25 [−8.0, 3.5]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11"/>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Train dưới SD + kênh vòng</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−2.25 [−7.5, 3.25]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12"/>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Biên mask k = 15 (WR +10.75)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+0.75 [−1.25, 2.75]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graphicFrame>
        <p:nvGraphicFramePr>
          <p:cNvPr id="41" name="table-240"/>
          <p:cNvGraphicFramePr>
            <a:graphicFrameLocks noGrp="1"/>
          </p:cNvGraphicFramePr>
          <p:nvPr>
            <p:extLst>
              <p:ext uri="{D42A27DB-BD31-4B8C-83A1-F6EECF244321}">
                <p14:modId xmlns:p14="http://schemas.microsoft.com/office/powerpoint/2010/main" val="1579011935"/>
              </p:ext>
            </p:extLst>
          </p:nvPr>
        </p:nvGraphicFramePr>
        <p:xfrm>
          <a:off x="6199632" y="1325880"/>
          <a:ext cx="5440680" cy="4413504"/>
        </p:xfrm>
        <a:graphic>
          <a:graphicData uri="http://schemas.openxmlformats.org/drawingml/2006/table">
            <a:tbl>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310896">
                <a:tc>
                  <a:txBody>
                    <a:bodyPr/>
                    <a:lstStyle/>
                    <a:p>
                      <a:pPr marL="0" indent="0" algn="l">
                        <a:buNone/>
                      </a:pPr>
                      <a:r>
                        <a:rPr lang="en-US" sz="1100" b="1" dirty="0">
                          <a:solidFill>
                            <a:schemeClr val="bg1"/>
                          </a:solidFill>
                          <a:latin typeface="+mn-lt" pitchFamily="34" charset="0"/>
                          <a:ea typeface="+mn-lt" pitchFamily="34" charset="-122"/>
                          <a:cs typeface="+mn-lt" pitchFamily="34" charset="-120"/>
                        </a:rPr>
                        <a:t>Thay đổi (một biến)</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100" b="1" dirty="0">
                          <a:solidFill>
                            <a:schemeClr val="bg1"/>
                          </a:solidFill>
                          <a:latin typeface="+mn-lt" pitchFamily="34" charset="0"/>
                          <a:ea typeface="+mn-lt" pitchFamily="34" charset="-122"/>
                          <a:cs typeface="+mn-lt" pitchFamily="34" charset="-120"/>
                        </a:rPr>
                        <a:t>ΔActiveWR [CI95]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100" b="1" dirty="0">
                          <a:solidFill>
                            <a:schemeClr val="bg1"/>
                          </a:solidFill>
                          <a:latin typeface="+mn-lt" pitchFamily="34" charset="0"/>
                          <a:ea typeface="+mn-lt" pitchFamily="34" charset="-122"/>
                          <a:cs typeface="+mn-lt" pitchFamily="34" charset="-120"/>
                        </a:rPr>
                        <a:t>Kết quả</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10896">
                <a:tc gridSpan="3">
                  <a:txBody>
                    <a:bodyPr/>
                    <a:lstStyle/>
                    <a:p>
                      <a:pPr marL="0" indent="0">
                        <a:buNone/>
                      </a:pPr>
                      <a:r>
                        <a:rPr lang="en-US" sz="1100" b="1" dirty="0">
                          <a:solidFill>
                            <a:schemeClr val="accent4"/>
                          </a:solidFill>
                          <a:latin typeface="+mn-lt" pitchFamily="34" charset="0"/>
                          <a:ea typeface="+mn-lt" pitchFamily="34" charset="-122"/>
                          <a:cs typeface="+mn-lt" pitchFamily="34" charset="-120"/>
                        </a:rPr>
                        <a:t>Từ F, 3,000 episode</a:t>
                      </a:r>
                      <a:endParaRPr lang="en-US" sz="1100" dirty="0">
                        <a:latin typeface="+mn-lt" charset="0"/>
                        <a:ea typeface="+mn-lt" charset="0"/>
                        <a:cs typeface="+mn-lt" charset="0"/>
                      </a:endParaRPr>
                    </a:p>
                  </a:txBody>
                  <a:tcPr marL="54864" marR="54864" marT="18288" marB="18288">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RL đối chứng</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−6.5 [−12.75, 0.0]</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Nhãn search thưa trong RL</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−2.75 [−9.75, 4.0]</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argmax thay vì lấy mẫu</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−9.25 [−16.0, −2.5]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tệ hơn</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Luật chặn ô cửa (WR +3.75)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−1.75 [−4.25, 0.75]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Advantage nhóm K=16, hệ số 4 (= G)</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+0.75 [−5.75, 7.25]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6"/>
                  </a:ext>
                </a:extLst>
              </a:tr>
              <a:tr h="310896">
                <a:tc gridSpan="3">
                  <a:txBody>
                    <a:bodyPr/>
                    <a:lstStyle/>
                    <a:p>
                      <a:pPr marL="0" indent="0">
                        <a:buNone/>
                      </a:pPr>
                      <a:r>
                        <a:rPr lang="en-US" sz="1100" b="1" dirty="0">
                          <a:solidFill>
                            <a:schemeClr val="accent4"/>
                          </a:solidFill>
                          <a:latin typeface="+mn-lt" pitchFamily="34" charset="0"/>
                          <a:ea typeface="+mn-lt" pitchFamily="34" charset="-122"/>
                          <a:cs typeface="+mn-lt" pitchFamily="34" charset="-120"/>
                        </a:rPr>
                        <a:t>Sau chưng cất</a:t>
                      </a:r>
                      <a:endParaRPr lang="en-US" sz="1100" dirty="0">
                        <a:latin typeface="+mn-lt" charset="0"/>
                        <a:ea typeface="+mn-lt" charset="0"/>
                        <a:cs typeface="+mn-lt" charset="0"/>
                      </a:endParaRPr>
                    </a:p>
                  </a:txBody>
                  <a:tcPr marL="54864" marR="54864" marT="18288" marB="18288">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Self-play RL vs pool CNN từ S2</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83.75 → 65.0 / 57.5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mất kỹ năng</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8"/>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KL neo toàn cục β = 1</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84 → 68 (đối chứng 76)</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trượt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9"/>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Search đoán đối thủ bằng CNN</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−33.0 [−41, −25] vs RuleBot</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6"/>
                          </a:solidFill>
                          <a:latin typeface="+mn-lt" pitchFamily="34" charset="0"/>
                          <a:ea typeface="+mn-lt" pitchFamily="34" charset="-122"/>
                          <a:cs typeface="+mn-lt" pitchFamily="34" charset="-120"/>
                        </a:rPr>
                        <a:t>bị loại</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10"/>
                  </a:ext>
                </a:extLst>
              </a:tr>
              <a:tr h="310896">
                <a:tc gridSpan="3">
                  <a:txBody>
                    <a:bodyPr/>
                    <a:lstStyle/>
                    <a:p>
                      <a:pPr marL="0" indent="0">
                        <a:buNone/>
                      </a:pPr>
                      <a:r>
                        <a:rPr lang="en-US" sz="1100" b="1" dirty="0">
                          <a:solidFill>
                            <a:schemeClr val="accent4"/>
                          </a:solidFill>
                          <a:latin typeface="+mn-lt" pitchFamily="34" charset="0"/>
                          <a:ea typeface="+mn-lt" pitchFamily="34" charset="-122"/>
                          <a:cs typeface="+mn-lt" pitchFamily="34" charset="-120"/>
                        </a:rPr>
                        <a:t>Được chấp nhận</a:t>
                      </a:r>
                      <a:endParaRPr lang="en-US" sz="1100" dirty="0">
                        <a:latin typeface="+mn-lt" charset="0"/>
                        <a:ea typeface="+mn-lt" charset="0"/>
                        <a:cs typeface="+mn-lt" charset="0"/>
                      </a:endParaRPr>
                    </a:p>
                  </a:txBody>
                  <a:tcPr marL="54864" marR="54864" marT="18288" marB="18288">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Search độ sâu 1 / 2 / 3 so với mức trước</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+16.5 / +21.0 / +8.25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4"/>
                          </a:solidFill>
                          <a:latin typeface="+mn-lt" pitchFamily="34" charset="0"/>
                          <a:ea typeface="+mn-lt" pitchFamily="34" charset="-122"/>
                          <a:cs typeface="+mn-lt" pitchFamily="34" charset="-120"/>
                        </a:rPr>
                        <a:t>qua</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12"/>
                  </a:ext>
                </a:extLst>
              </a:tr>
              <a:tr h="310896">
                <a:tc>
                  <a:txBody>
                    <a:bodyPr/>
                    <a:lstStyle/>
                    <a:p>
                      <a:pPr marL="0" indent="0">
                        <a:buNone/>
                      </a:pPr>
                      <a:r>
                        <a:rPr lang="en-US" sz="1100" dirty="0">
                          <a:solidFill>
                            <a:schemeClr val="tx1"/>
                          </a:solidFill>
                          <a:latin typeface="+mn-lt" pitchFamily="34" charset="0"/>
                          <a:ea typeface="+mn-lt" pitchFamily="34" charset="-122"/>
                          <a:cs typeface="+mn-lt" pitchFamily="34" charset="-120"/>
                        </a:rPr>
                        <a:t>Chưng cất vòng 1 / 2 / 3</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dirty="0">
                          <a:solidFill>
                            <a:schemeClr val="tx1"/>
                          </a:solidFill>
                          <a:latin typeface="+mn-lt" pitchFamily="34" charset="0"/>
                          <a:ea typeface="+mn-lt" pitchFamily="34" charset="-122"/>
                          <a:cs typeface="+mn-lt" pitchFamily="34" charset="-120"/>
                        </a:rPr>
                        <a:t>+16.25 / +35.0 / +10.5</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100" b="1" dirty="0">
                          <a:solidFill>
                            <a:schemeClr val="accent4"/>
                          </a:solidFill>
                          <a:latin typeface="+mn-lt" pitchFamily="34" charset="0"/>
                          <a:ea typeface="+mn-lt" pitchFamily="34" charset="-122"/>
                          <a:cs typeface="+mn-lt" pitchFamily="34" charset="-120"/>
                        </a:rPr>
                        <a:t>qua</a:t>
                      </a:r>
                      <a:endParaRPr lang="en-US" sz="1100" dirty="0">
                        <a:latin typeface="+mn-lt" charset="0"/>
                        <a:ea typeface="+mn-lt" charset="0"/>
                        <a:cs typeface="+mn-lt" charset="0"/>
                      </a:endParaRPr>
                    </a:p>
                  </a:txBody>
                  <a:tcPr marL="54864" marR="54864" marT="18288" marB="18288"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5" name="text-241"/>
          <p:cNvSpPr txBox="1"/>
          <p:nvPr/>
        </p:nvSpPr>
        <p:spPr>
          <a:xfrm>
            <a:off x="548640" y="5989320"/>
            <a:ext cx="11091672" cy="411480"/>
          </a:xfrm>
          <a:prstGeom prst="rect">
            <a:avLst/>
          </a:prstGeom>
          <a:noFill/>
          <a:ln/>
        </p:spPr>
        <p:txBody>
          <a:bodyPr wrap="square" lIns="0" tIns="0" rIns="0" bIns="0" rtlCol="0" anchor="t"/>
          <a:lstStyle/>
          <a:p>
            <a:pPr marL="0" indent="0">
              <a:buNone/>
            </a:pPr>
            <a:r>
              <a:rPr lang="en-US" sz="1100" dirty="0">
                <a:solidFill>
                  <a:schemeClr val="accent5"/>
                </a:solidFill>
              </a:rPr>
              <a:t>Cổng: Δ ≥ +5 và cận dưới CI &gt; 0. Nhánh từ B chạy 200 episode lr 1e-4, đánh giá trước khi có sudden death; nhánh từ F chạy 3,000 episode, lịch E. Một train seed mỗi nhánh.</a:t>
            </a:r>
            <a:endParaRPr lang="en-US" sz="11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Phụ lục C: các agent đã công bố và của ta (Bảng VI)</a:t>
            </a:r>
            <a:endParaRPr lang="en-US" sz="3000" dirty="0"/>
          </a:p>
        </p:txBody>
      </p:sp>
      <p:graphicFrame>
        <p:nvGraphicFramePr>
          <p:cNvPr id="22" name="table-242"/>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389120"/>
        </p:xfrm>
        <a:graphic>
          <a:graphicData uri="http://schemas.openxmlformats.org/drawingml/2006/table">
            <a:tbl>
              <a:tblPr/>
              <a:tblGrid>
                <a:gridCol w="1737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84048">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Công trình</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Bối cảnh</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Đối thủ</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Phương pháp</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tc>
                  <a:txBody>
                    <a:bodyPr/>
                    <a:lstStyle/>
                    <a:p>
                      <a:pPr marL="0" indent="0" algn="l">
                        <a:buNone/>
                      </a:pPr>
                      <a:r>
                        <a:rPr lang="en-US" sz="1200" b="1" dirty="0">
                          <a:solidFill>
                            <a:schemeClr val="bg1"/>
                          </a:solidFill>
                          <a:latin typeface="+mn-lt" pitchFamily="34" charset="0"/>
                          <a:ea typeface="+mn-lt" pitchFamily="34" charset="-122"/>
                          <a:cs typeface="+mn-lt" pitchFamily="34" charset="-120"/>
                        </a:rPr>
                        <a:t>Kết quả báo cáo</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Resnick 2018</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Pommerman FFA, 4 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SimpleAgent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mức tham chiếu</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agent ngang SimpleAgent thắng ≈ 20%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Gao 2019</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FFA / đội</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SimpleAgent / đội</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PPO + lọc hành động</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40–43% (FFA), 65–76% (đội)</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Perez-Liebana 2019</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FFA, quan sát đầy đủ</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agent luật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MCTS / RHEA</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46.5% / 33.0%</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Weil 2023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FFA chính thức</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SimpleAgent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MCTS + model học (ExIt)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61–78%, hòa 12–34%</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Meisheri 2019</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đội 2×2, quan sát một phần</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đội SimpleAgent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bắt chước → PPO</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77.8%</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Osogami 2019</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đội 2×2</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đội SimpleAgent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tree search độ sâu 1, kịch bản bi quan</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92.6–99.7%</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Huynh 2024</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đội 2×2, quan sát một phần</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SimpleAgent; agent search</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PPO + LSTM, curriculum, 200M bước</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98.85%; 30.0% trước agent search</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Ours, G</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FFA 11×11, 4 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RuleBot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PG có mask + advantage nhóm</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36.3%, ActiveWR 23.1% (160 trận)</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extLst>
                  <a:ext uri="{0D108BD9-81ED-4DB2-BD59-A6C34878D82A}">
                    <a16:rowId xmlns:a16="http://schemas.microsoft.com/office/drawing/2014/main" val="10008"/>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Ours, G+s3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FFA 11×11, 4 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RuleBot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G + kill-search không mạng</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88.8%, ActiveWR 86.3%</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extLst>
                  <a:ext uri="{0D108BD9-81ED-4DB2-BD59-A6C34878D82A}">
                    <a16:rowId xmlns:a16="http://schemas.microsoft.com/office/drawing/2014/main" val="10009"/>
                  </a:ext>
                </a:extLst>
              </a:tr>
              <a:tr h="384048">
                <a:tc>
                  <a:txBody>
                    <a:bodyPr/>
                    <a:lstStyle/>
                    <a:p>
                      <a:pPr marL="0" indent="0">
                        <a:buNone/>
                      </a:pPr>
                      <a:r>
                        <a:rPr lang="en-US" sz="1200" dirty="0">
                          <a:solidFill>
                            <a:schemeClr val="tx1"/>
                          </a:solidFill>
                          <a:latin typeface="+mn-lt" pitchFamily="34" charset="0"/>
                          <a:ea typeface="+mn-lt" pitchFamily="34" charset="-122"/>
                          <a:cs typeface="+mn-lt" pitchFamily="34" charset="-120"/>
                        </a:rPr>
                        <a:t>Ours, S3-11</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FFA 11×11, 4 agent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3 RuleBot</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CNN chưng cất, không search</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tc>
                  <a:txBody>
                    <a:bodyPr/>
                    <a:lstStyle/>
                    <a:p>
                      <a:pPr marL="0" indent="0">
                        <a:buNone/>
                      </a:pPr>
                      <a:r>
                        <a:rPr lang="en-US" sz="1200" dirty="0">
                          <a:solidFill>
                            <a:schemeClr val="tx1"/>
                          </a:solidFill>
                          <a:latin typeface="+mn-lt" pitchFamily="34" charset="0"/>
                          <a:ea typeface="+mn-lt" pitchFamily="34" charset="-122"/>
                          <a:cs typeface="+mn-lt" pitchFamily="34" charset="-120"/>
                        </a:rPr>
                        <a:t>WR 63.8%, ActiveWR 59.4%</a:t>
                      </a:r>
                      <a:endParaRPr lang="en-US" sz="1200" dirty="0">
                        <a:latin typeface="+mn-lt" charset="0"/>
                        <a:ea typeface="+mn-lt" charset="0"/>
                        <a:cs typeface="+mn-lt" charset="0"/>
                      </a:endParaRPr>
                    </a:p>
                  </a:txBody>
                  <a:tcPr marL="73152" marR="73152" marT="36576" marB="36576" anchor="ctr">
                    <a:lnL w="6350" cap="flat" cmpd="sng" algn="ctr">
                      <a:solidFill>
                        <a:srgbClr val="E3E5EF"/>
                      </a:solidFill>
                      <a:prstDash val="solid"/>
                      <a:round/>
                      <a:headEnd type="none" w="med" len="med"/>
                      <a:tailEnd type="none" w="med" len="med"/>
                    </a:lnL>
                    <a:lnR w="6350" cap="flat" cmpd="sng" algn="ctr">
                      <a:solidFill>
                        <a:srgbClr val="E3E5EF"/>
                      </a:solidFill>
                      <a:prstDash val="solid"/>
                      <a:round/>
                      <a:headEnd type="none" w="med" len="med"/>
                      <a:tailEnd type="none" w="med" len="med"/>
                    </a:lnR>
                    <a:lnT w="6350" cap="flat" cmpd="sng" algn="ctr">
                      <a:solidFill>
                        <a:srgbClr val="E3E5EF"/>
                      </a:solidFill>
                      <a:prstDash val="solid"/>
                      <a:round/>
                      <a:headEnd type="none" w="med" len="med"/>
                      <a:tailEnd type="none" w="med" len="med"/>
                    </a:lnT>
                    <a:lnB w="6350" cap="flat" cmpd="sng" algn="ctr">
                      <a:solidFill>
                        <a:srgbClr val="E3E5EF"/>
                      </a:solidFill>
                      <a:prstDash val="solid"/>
                      <a:round/>
                      <a:headEnd type="none" w="med" len="med"/>
                      <a:tailEnd type="none" w="med" len="med"/>
                    </a:lnB>
                    <a:solidFill>
                      <a:srgbClr val="E8E5FB"/>
                    </a:solidFill>
                  </a:tcPr>
                </a:tc>
                <a:extLst>
                  <a:ext uri="{0D108BD9-81ED-4DB2-BD59-A6C34878D82A}">
                    <a16:rowId xmlns:a16="http://schemas.microsoft.com/office/drawing/2014/main" val="10010"/>
                  </a:ext>
                </a:extLst>
              </a:tr>
            </a:tbl>
          </a:graphicData>
        </a:graphic>
      </p:graphicFrame>
      <p:sp>
        <p:nvSpPr>
          <p:cNvPr id="4" name="text-243"/>
          <p:cNvSpPr txBox="1"/>
          <p:nvPr/>
        </p:nvSpPr>
        <p:spPr>
          <a:xfrm>
            <a:off x="548640" y="5852160"/>
            <a:ext cx="11091672" cy="502920"/>
          </a:xfrm>
          <a:prstGeom prst="rect">
            <a:avLst/>
          </a:prstGeom>
          <a:noFill/>
          <a:ln/>
        </p:spPr>
        <p:txBody>
          <a:bodyPr wrap="square" lIns="0" tIns="0" rIns="0" bIns="0" rtlCol="0" anchor="t"/>
          <a:lstStyle/>
          <a:p>
            <a:pPr marL="0" indent="0">
              <a:buNone/>
            </a:pPr>
            <a:r>
              <a:rPr lang="en-US" sz="1200" dirty="0">
                <a:solidFill>
                  <a:schemeClr val="accent5"/>
                </a:solidFill>
              </a:rPr>
              <a:t>Bối cảnh khác nhau (Pommerman: bom nổ sau 10 bước, đá bom, 800 bước; ta: bom nổ sau 8 bước, 500 bước có sudden death), nên bảng chỉ định vị. Chưa có công trình nào báo ActiveWR.</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Phụ lục D: tài liệu liên quan</a:t>
            </a:r>
            <a:endParaRPr lang="en-US" sz="3000" dirty="0"/>
          </a:p>
        </p:txBody>
      </p:sp>
      <p:sp>
        <p:nvSpPr>
          <p:cNvPr id="3" name="card-244"/>
          <p:cNvSpPr/>
          <p:nvPr/>
        </p:nvSpPr>
        <p:spPr>
          <a:xfrm>
            <a:off x="548640" y="1325880"/>
            <a:ext cx="5440680" cy="2331720"/>
          </a:xfrm>
          <a:prstGeom prst="roundRect">
            <a:avLst>
              <a:gd name="adj" fmla="val 3137"/>
            </a:avLst>
          </a:prstGeom>
          <a:solidFill>
            <a:schemeClr val="bg2"/>
          </a:solidFill>
          <a:ln w="12700">
            <a:solidFill>
              <a:schemeClr val="bg2"/>
            </a:solidFill>
            <a:prstDash val="solid"/>
          </a:ln>
        </p:spPr>
      </p:sp>
      <p:sp>
        <p:nvSpPr>
          <p:cNvPr id="4" name="text-245"/>
          <p:cNvSpPr txBox="1"/>
          <p:nvPr/>
        </p:nvSpPr>
        <p:spPr>
          <a:xfrm>
            <a:off x="749808" y="1463040"/>
            <a:ext cx="5038344"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RL trong Bomberman và Pommerman</a:t>
            </a:r>
            <a:endParaRPr lang="en-US" sz="1600" dirty="0"/>
          </a:p>
        </p:txBody>
      </p:sp>
      <p:sp>
        <p:nvSpPr>
          <p:cNvPr id="5" name="text-246"/>
          <p:cNvSpPr txBox="1"/>
          <p:nvPr/>
        </p:nvSpPr>
        <p:spPr>
          <a:xfrm>
            <a:off x="749808" y="1874520"/>
            <a:ext cx="5038344" cy="1691640"/>
          </a:xfrm>
          <a:prstGeom prst="rect">
            <a:avLst/>
          </a:prstGeom>
          <a:noFill/>
          <a:ln/>
        </p:spPr>
        <p:txBody>
          <a:bodyPr wrap="square" lIns="0" tIns="0" rIns="0" bIns="0" rtlCol="0" anchor="t"/>
          <a:lstStyle/>
          <a:p>
            <a:pPr marL="0" indent="0">
              <a:buNone/>
            </a:pPr>
            <a:r>
              <a:rPr lang="en-US" sz="1500" dirty="0">
                <a:solidFill>
                  <a:schemeClr val="tx1"/>
                </a:solidFill>
              </a:rPr>
              <a:t>Pommerman (Resnick 2018) biến Bomberman thành benchmark đa agent. Không lọc hành động, PPO không học được sau 5 ngày; có lọc thì học được (Gao 2019). Bắt chước rồi RL bị quên thảm họa (Meisheri 2019); 200M bước PBT vẫn thua search 70–95% (Huynh 2024).</a:t>
            </a:r>
            <a:endParaRPr lang="en-US" sz="1500" dirty="0"/>
          </a:p>
        </p:txBody>
      </p:sp>
      <p:sp>
        <p:nvSpPr>
          <p:cNvPr id="6" name="card-247"/>
          <p:cNvSpPr/>
          <p:nvPr/>
        </p:nvSpPr>
        <p:spPr>
          <a:xfrm>
            <a:off x="6199632" y="1325880"/>
            <a:ext cx="5440680" cy="2331720"/>
          </a:xfrm>
          <a:prstGeom prst="roundRect">
            <a:avLst>
              <a:gd name="adj" fmla="val 3137"/>
            </a:avLst>
          </a:prstGeom>
          <a:solidFill>
            <a:schemeClr val="bg2"/>
          </a:solidFill>
          <a:ln w="12700">
            <a:solidFill>
              <a:schemeClr val="bg2"/>
            </a:solidFill>
            <a:prstDash val="solid"/>
          </a:ln>
        </p:spPr>
      </p:sp>
      <p:sp>
        <p:nvSpPr>
          <p:cNvPr id="7" name="text-248"/>
          <p:cNvSpPr txBox="1"/>
          <p:nvPr/>
        </p:nvSpPr>
        <p:spPr>
          <a:xfrm>
            <a:off x="6400800" y="1463040"/>
            <a:ext cx="5038344"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Search trong Pommerman</a:t>
            </a:r>
            <a:endParaRPr lang="en-US" sz="1600" dirty="0"/>
          </a:p>
        </p:txBody>
      </p:sp>
      <p:sp>
        <p:nvSpPr>
          <p:cNvPr id="8" name="text-249"/>
          <p:cNvSpPr txBox="1"/>
          <p:nvPr/>
        </p:nvSpPr>
        <p:spPr>
          <a:xfrm>
            <a:off x="6400800" y="1874520"/>
            <a:ext cx="5038344" cy="1691640"/>
          </a:xfrm>
          <a:prstGeom prst="rect">
            <a:avLst/>
          </a:prstGeom>
          <a:noFill/>
          <a:ln/>
        </p:spPr>
        <p:txBody>
          <a:bodyPr wrap="square" lIns="0" tIns="0" rIns="0" bIns="0" rtlCol="0" anchor="t"/>
          <a:lstStyle/>
          <a:p>
            <a:pPr marL="0" indent="0">
              <a:buNone/>
            </a:pPr>
            <a:r>
              <a:rPr lang="en-US" sz="1500" dirty="0">
                <a:solidFill>
                  <a:schemeClr val="tx1"/>
                </a:solidFill>
              </a:rPr>
              <a:t>Người thắng NeurIPS 2018 dùng tree search sâu hạn chế với kịch bản đối thủ bi quan, thắng RL tốt nhất 87.1% trên 22,500 ván (Osogami 2019). MCTS và RHEA cho 59–84% hòa giữa các planner mạnh; mô hình đối thủ học được dễ làm agent thụ động (Weil 2023).</a:t>
            </a:r>
            <a:endParaRPr lang="en-US" sz="1500" dirty="0"/>
          </a:p>
        </p:txBody>
      </p:sp>
      <p:sp>
        <p:nvSpPr>
          <p:cNvPr id="9" name="card-250"/>
          <p:cNvSpPr/>
          <p:nvPr/>
        </p:nvSpPr>
        <p:spPr>
          <a:xfrm>
            <a:off x="548640" y="3840480"/>
            <a:ext cx="5440680" cy="2331720"/>
          </a:xfrm>
          <a:prstGeom prst="roundRect">
            <a:avLst>
              <a:gd name="adj" fmla="val 3137"/>
            </a:avLst>
          </a:prstGeom>
          <a:solidFill>
            <a:schemeClr val="bg2"/>
          </a:solidFill>
          <a:ln w="12700">
            <a:solidFill>
              <a:schemeClr val="bg2"/>
            </a:solidFill>
            <a:prstDash val="solid"/>
          </a:ln>
        </p:spPr>
      </p:sp>
      <p:sp>
        <p:nvSpPr>
          <p:cNvPr id="10" name="text-251"/>
          <p:cNvSpPr txBox="1"/>
          <p:nvPr/>
        </p:nvSpPr>
        <p:spPr>
          <a:xfrm>
            <a:off x="749808" y="3977640"/>
            <a:ext cx="5038344"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Search làm thầy</a:t>
            </a:r>
            <a:endParaRPr lang="en-US" sz="1600" dirty="0"/>
          </a:p>
        </p:txBody>
      </p:sp>
      <p:sp>
        <p:nvSpPr>
          <p:cNvPr id="11" name="text-252"/>
          <p:cNvSpPr txBox="1"/>
          <p:nvPr/>
        </p:nvSpPr>
        <p:spPr>
          <a:xfrm>
            <a:off x="749808" y="4389120"/>
            <a:ext cx="5038344" cy="1691640"/>
          </a:xfrm>
          <a:prstGeom prst="rect">
            <a:avLst/>
          </a:prstGeom>
          <a:noFill/>
          <a:ln/>
        </p:spPr>
        <p:txBody>
          <a:bodyPr wrap="square" lIns="0" tIns="0" rIns="0" bIns="0" rtlCol="0" anchor="t"/>
          <a:lstStyle/>
          <a:p>
            <a:pPr marL="0" indent="0">
              <a:buNone/>
            </a:pPr>
            <a:r>
              <a:rPr lang="en-US" sz="1500" dirty="0">
                <a:solidFill>
                  <a:schemeClr val="tx1"/>
                </a:solidFill>
              </a:rPr>
              <a:t>Guo 2014 train CNN trên quyết định UCT; Expert Iteration, AlphaGo Zero, AlphaZero xen kẽ chuyên gia search và học trò mạng. Kartal 2018–19 dùng MCTS làm demonstrator trong A3C trên bàn 8×8 và đề xuất hai hướng chưa thử. Chưng cất, DAgger, kickstarting là phần học có giám sát.</a:t>
            </a:r>
            <a:endParaRPr lang="en-US" sz="1500" dirty="0"/>
          </a:p>
        </p:txBody>
      </p:sp>
      <p:sp>
        <p:nvSpPr>
          <p:cNvPr id="12" name="card-253"/>
          <p:cNvSpPr/>
          <p:nvPr/>
        </p:nvSpPr>
        <p:spPr>
          <a:xfrm>
            <a:off x="6199632" y="3840480"/>
            <a:ext cx="5440680" cy="2331720"/>
          </a:xfrm>
          <a:prstGeom prst="roundRect">
            <a:avLst>
              <a:gd name="adj" fmla="val 3137"/>
            </a:avLst>
          </a:prstGeom>
          <a:solidFill>
            <a:schemeClr val="bg2"/>
          </a:solidFill>
          <a:ln w="12700">
            <a:solidFill>
              <a:schemeClr val="bg2"/>
            </a:solidFill>
            <a:prstDash val="solid"/>
          </a:ln>
        </p:spPr>
      </p:sp>
      <p:sp>
        <p:nvSpPr>
          <p:cNvPr id="13" name="text-254"/>
          <p:cNvSpPr txBox="1"/>
          <p:nvPr/>
        </p:nvSpPr>
        <p:spPr>
          <a:xfrm>
            <a:off x="6400800" y="3977640"/>
            <a:ext cx="5038344"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An toàn và đánh giá</a:t>
            </a:r>
            <a:endParaRPr lang="en-US" sz="1600" dirty="0"/>
          </a:p>
        </p:txBody>
      </p:sp>
      <p:sp>
        <p:nvSpPr>
          <p:cNvPr id="14" name="text-255"/>
          <p:cNvSpPr txBox="1"/>
          <p:nvPr/>
        </p:nvSpPr>
        <p:spPr>
          <a:xfrm>
            <a:off x="6400800" y="4389120"/>
            <a:ext cx="5038344" cy="1691640"/>
          </a:xfrm>
          <a:prstGeom prst="rect">
            <a:avLst/>
          </a:prstGeom>
          <a:noFill/>
          <a:ln/>
        </p:spPr>
        <p:txBody>
          <a:bodyPr wrap="square" lIns="0" tIns="0" rIns="0" bIns="0" rtlCol="0" anchor="t"/>
          <a:lstStyle/>
          <a:p>
            <a:pPr marL="0" indent="0">
              <a:buNone/>
            </a:pPr>
            <a:r>
              <a:rPr lang="en-US" sz="1500" dirty="0">
                <a:solidFill>
                  <a:schemeClr val="tx1"/>
                </a:solidFill>
              </a:rPr>
              <a:t>Mask logit giữ policy gradient hợp lệ (Huang 2020); shield chặn hành động không an toàn (Alshiekh 2018). Chỉ shaping dạng thế mới giữ nguyên policy tối ưu (Ng 1999). Kết quả RL cần CI trên nhiều đơn vị độc lập (Henderson 2018, Agarwal 2021); ta dùng bootstrap ghép cặp của Efron.</a:t>
            </a:r>
            <a:endParaRPr lang="en-US" sz="15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1672" cy="868680"/>
          </a:xfrm>
          <a:prstGeom prst="rect">
            <a:avLst/>
          </a:prstGeom>
          <a:noFill/>
          <a:ln/>
        </p:spPr>
        <p:txBody>
          <a:bodyPr wrap="square" lIns="0" tIns="0" rIns="0" bIns="0" rtlCol="0" anchor="ctr"/>
          <a:lstStyle/>
          <a:p>
            <a:pPr marL="0" indent="0" algn="l">
              <a:buNone/>
            </a:pPr>
            <a:r>
              <a:rPr lang="en-US" sz="3000" b="1" dirty="0">
                <a:solidFill>
                  <a:schemeClr val="tx1"/>
                </a:solidFill>
              </a:rPr>
              <a:t>Phụ lục E: thông số huấn luyện và độ dài ván</a:t>
            </a:r>
            <a:endParaRPr lang="en-US" sz="3000" dirty="0"/>
          </a:p>
        </p:txBody>
      </p:sp>
      <p:sp>
        <p:nvSpPr>
          <p:cNvPr id="3" name="card-256"/>
          <p:cNvSpPr/>
          <p:nvPr/>
        </p:nvSpPr>
        <p:spPr>
          <a:xfrm>
            <a:off x="548640" y="1325880"/>
            <a:ext cx="6035040" cy="5029200"/>
          </a:xfrm>
          <a:prstGeom prst="roundRect">
            <a:avLst>
              <a:gd name="adj" fmla="val 1455"/>
            </a:avLst>
          </a:prstGeom>
          <a:solidFill>
            <a:schemeClr val="bg2"/>
          </a:solidFill>
          <a:ln w="12700">
            <a:solidFill>
              <a:schemeClr val="bg2"/>
            </a:solidFill>
            <a:prstDash val="solid"/>
          </a:ln>
        </p:spPr>
      </p:sp>
      <p:sp>
        <p:nvSpPr>
          <p:cNvPr id="4" name="text-257"/>
          <p:cNvSpPr txBox="1"/>
          <p:nvPr/>
        </p:nvSpPr>
        <p:spPr>
          <a:xfrm>
            <a:off x="777240" y="1508760"/>
            <a:ext cx="5577840" cy="4663440"/>
          </a:xfrm>
          <a:prstGeom prst="rect">
            <a:avLst/>
          </a:prstGeom>
          <a:noFill/>
          <a:ln/>
        </p:spPr>
        <p:txBody>
          <a:bodyPr wrap="square" lIns="0" tIns="0" rIns="0" bIns="0" rtlCol="0" anchor="t"/>
          <a:lstStyle/>
          <a:p>
            <a:pPr marL="0" indent="0">
              <a:spcAft>
                <a:spcPts val="1000"/>
              </a:spcAft>
              <a:buNone/>
            </a:pPr>
            <a:r>
              <a:rPr lang="en-US" sz="1600" b="1" dirty="0">
                <a:solidFill>
                  <a:schemeClr val="accent4"/>
                </a:solidFill>
              </a:rPr>
              <a:t>RL: </a:t>
            </a:r>
            <a:r>
              <a:rPr lang="en-US" sz="1600" dirty="0">
                <a:solidFill>
                  <a:schemeClr val="tx1"/>
                </a:solidFill>
              </a:rPr>
              <a:t>Adam lr 2.5e-5, γ = 0.99, c_v = 0.5, c_e 0.0075 → 0.0015; 3,000 episode mỗi nhánh, validation mỗi 500 (400 trận).</a:t>
            </a:r>
            <a:endParaRPr lang="en-US" sz="1600" dirty="0"/>
          </a:p>
          <a:p>
            <a:pPr marL="0" indent="0">
              <a:spcAft>
                <a:spcPts val="1000"/>
              </a:spcAft>
              <a:buNone/>
            </a:pPr>
            <a:r>
              <a:rPr lang="en-US" sz="1600" b="1" dirty="0">
                <a:solidFill>
                  <a:schemeClr val="accent4"/>
                </a:solidFill>
              </a:rPr>
              <a:t>Advantage nhóm: </a:t>
            </a:r>
            <a:r>
              <a:rPr lang="en-US" sz="1600" dirty="0">
                <a:solidFill>
                  <a:schemeClr val="tx1"/>
                </a:solidFill>
              </a:rPr>
              <a:t>K = 16, H = 20, hệ số 4, tối đa 6 trạng thái mỗi episode.</a:t>
            </a:r>
            <a:endParaRPr lang="en-US" sz="1600" dirty="0"/>
          </a:p>
          <a:p>
            <a:pPr marL="0" indent="0">
              <a:spcAft>
                <a:spcPts val="1000"/>
              </a:spcAft>
              <a:buNone/>
            </a:pPr>
            <a:r>
              <a:rPr lang="en-US" sz="1600" b="1" dirty="0">
                <a:solidFill>
                  <a:schemeClr val="accent4"/>
                </a:solidFill>
              </a:rPr>
              <a:t>Kill-search: </a:t>
            </a:r>
            <a:r>
              <a:rPr lang="en-US" sz="1600" dirty="0">
                <a:solidFill>
                  <a:schemeClr val="tx1"/>
                </a:solidFill>
              </a:rPr>
              <a:t>horizon 12 tick, reach 6, độ sâu 1/2/3, mô hình đối thủ RuleBot.</a:t>
            </a:r>
            <a:endParaRPr lang="en-US" sz="1600" dirty="0"/>
          </a:p>
          <a:p>
            <a:pPr marL="0" indent="0">
              <a:spcAft>
                <a:spcPts val="1000"/>
              </a:spcAft>
              <a:buNone/>
            </a:pPr>
            <a:r>
              <a:rPr lang="en-US" sz="1600" b="1" dirty="0">
                <a:solidFill>
                  <a:schemeClr val="accent4"/>
                </a:solidFill>
              </a:rPr>
              <a:t>Chưng cất: </a:t>
            </a:r>
            <a:r>
              <a:rPr lang="en-US" sz="1600" dirty="0">
                <a:solidFill>
                  <a:schemeClr val="tx1"/>
                </a:solidFill>
              </a:rPr>
              <a:t>3,000 ván thầy, anchor 5%, λ = 1, lr 1e-4, batch 256.</a:t>
            </a:r>
            <a:endParaRPr lang="en-US" sz="1600" dirty="0"/>
          </a:p>
          <a:p>
            <a:pPr marL="0" indent="0">
              <a:spcAft>
                <a:spcPts val="1000"/>
              </a:spcAft>
              <a:buNone/>
            </a:pPr>
            <a:r>
              <a:rPr lang="en-US" sz="1600" b="1" dirty="0">
                <a:solidFill>
                  <a:schemeClr val="accent4"/>
                </a:solidFill>
              </a:rPr>
              <a:t>Đánh giá: </a:t>
            </a:r>
            <a:r>
              <a:rPr lang="en-US" sz="1600" dirty="0">
                <a:solidFill>
                  <a:schemeClr val="tx1"/>
                </a:solidFill>
              </a:rPr>
              <a:t>200 bàn × 2 góc, 500 bước, lịch E, lấy mẫu hành động.</a:t>
            </a:r>
            <a:endParaRPr lang="en-US" sz="1600" dirty="0"/>
          </a:p>
          <a:p>
            <a:pPr marL="0" indent="0">
              <a:spcAft>
                <a:spcPts val="1000"/>
              </a:spcAft>
              <a:buNone/>
            </a:pPr>
            <a:r>
              <a:rPr lang="en-US" sz="1600" b="1" dirty="0">
                <a:solidFill>
                  <a:schemeClr val="accent4"/>
                </a:solidFill>
              </a:rPr>
              <a:t>Thống kê: </a:t>
            </a:r>
            <a:r>
              <a:rPr lang="en-US" sz="1600" dirty="0">
                <a:solidFill>
                  <a:schemeClr val="tx1"/>
                </a:solidFill>
              </a:rPr>
              <a:t>bootstrap ghép cặp theo bàn, 10⁴ lần, seed 20261014.</a:t>
            </a:r>
            <a:endParaRPr lang="en-US" sz="1600" dirty="0"/>
          </a:p>
          <a:p>
            <a:pPr marL="0" indent="0">
              <a:spcAft>
                <a:spcPts val="1000"/>
              </a:spcAft>
              <a:buNone/>
            </a:pPr>
            <a:r>
              <a:rPr lang="en-US" sz="1600" b="1" dirty="0">
                <a:solidFill>
                  <a:schemeClr val="accent4"/>
                </a:solidFill>
              </a:rPr>
              <a:t>Phần cứng: </a:t>
            </a:r>
            <a:r>
              <a:rPr lang="en-US" sz="1600" dirty="0">
                <a:solidFill>
                  <a:schemeClr val="tx1"/>
                </a:solidFill>
              </a:rPr>
              <a:t>GPU cá nhân (RTX 3050/4060) cho cập nhật; CPU cho search và test.</a:t>
            </a:r>
            <a:endParaRPr lang="en-US" sz="1600" dirty="0"/>
          </a:p>
        </p:txBody>
      </p:sp>
      <p:pic>
        <p:nvPicPr>
          <p:cNvPr id="5" name="img-258" descr="Phân bố độ dài ván của các agent: agent chưng cất và search kết thúc sớm hơn"/>
          <p:cNvPicPr>
            <a:picLocks noChangeAspect="1"/>
          </p:cNvPicPr>
          <p:nvPr/>
        </p:nvPicPr>
        <p:blipFill>
          <a:blip r:embed="rId3"/>
          <a:stretch>
            <a:fillRect/>
          </a:stretch>
        </p:blipFill>
        <p:spPr>
          <a:xfrm>
            <a:off x="6858000" y="1325880"/>
            <a:ext cx="4782312" cy="1842076"/>
          </a:xfrm>
          <a:prstGeom prst="rect">
            <a:avLst/>
          </a:prstGeom>
        </p:spPr>
      </p:pic>
      <p:sp>
        <p:nvSpPr>
          <p:cNvPr id="6" name="text-259"/>
          <p:cNvSpPr txBox="1"/>
          <p:nvPr/>
        </p:nvSpPr>
        <p:spPr>
          <a:xfrm>
            <a:off x="6858000" y="3241108"/>
            <a:ext cx="4782312" cy="914400"/>
          </a:xfrm>
          <a:prstGeom prst="rect">
            <a:avLst/>
          </a:prstGeom>
          <a:noFill/>
          <a:ln/>
        </p:spPr>
        <p:txBody>
          <a:bodyPr wrap="square" lIns="0" tIns="0" rIns="0" bIns="0" rtlCol="0" anchor="t"/>
          <a:lstStyle/>
          <a:p>
            <a:pPr marL="0" indent="0">
              <a:buNone/>
            </a:pPr>
            <a:r>
              <a:rPr lang="en-US" sz="1200" dirty="0">
                <a:solidFill>
                  <a:schemeClr val="accent5"/>
                </a:solidFill>
              </a:rPr>
              <a:t>Phân bố tích lũy độ dài ván. Trái: G, S2, S3 đấu RuleBot (khối 57000), S3 kết thúc sớm hơn S2 (131 so với 202 bước). Phải: S3 đấu CNN đông cứng (validation 21000), phần lớn ván kéo tới giới hạn 500 bước.</a:t>
            </a:r>
            <a:endParaRPr lang="en-US" sz="12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Bomberman S3">
  <a:themeElements>
    <a:clrScheme name="Bomberman S3">
      <a:dk1>
        <a:srgbClr val="14142B"/>
      </a:dk1>
      <a:lt1>
        <a:srgbClr val="FFFFFF"/>
      </a:lt1>
      <a:dk2>
        <a:srgbClr val="17133A"/>
      </a:dk2>
      <a:lt2>
        <a:srgbClr val="F3F4FA"/>
      </a:lt2>
      <a:accent1>
        <a:srgbClr val="1B4F94"/>
      </a:accent1>
      <a:accent2>
        <a:srgbClr val="E8693A"/>
      </a:accent2>
      <a:accent3>
        <a:srgbClr val="7B68DD"/>
      </a:accent3>
      <a:accent4>
        <a:srgbClr val="3D2F9B"/>
      </a:accent4>
      <a:accent5>
        <a:srgbClr val="5B607A"/>
      </a:accent5>
      <a:accent6>
        <a:srgbClr val="A33F14"/>
      </a:accent6>
      <a:hlink>
        <a:srgbClr val="1B4F94"/>
      </a:hlink>
      <a:folHlink>
        <a:srgbClr val="3D2F9B"/>
      </a:folHlink>
    </a:clrScheme>
    <a:fontScheme name="Bomberman S3">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5099</Words>
  <Application>Microsoft Office PowerPoint</Application>
  <PresentationFormat>Màn hình rộng</PresentationFormat>
  <Paragraphs>492</Paragraphs>
  <Slides>22</Slides>
  <Notes>22</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22</vt:i4>
      </vt:variant>
    </vt:vector>
  </HeadingPairs>
  <TitlesOfParts>
    <vt:vector size="26" baseType="lpstr">
      <vt:lpstr>Arial</vt:lpstr>
      <vt:lpstr>Calibri</vt:lpstr>
      <vt:lpstr>Cambria</vt:lpstr>
      <vt:lpstr>Bomberman S3</vt:lpstr>
      <vt:lpstr>Dạy CNN hạ gục đối thủ trong Bomberman</vt:lpstr>
      <vt:lpstr>S3 đạt 92.25% ActiveWR chỉ với một lượt chạy mạng mỗi nước</vt:lpstr>
      <vt:lpstr>Problem: Bomberman khó với RL vì thưởng thưa và trễ</vt:lpstr>
      <vt:lpstr>Problem: thắng chưa chắc là hạ gục</vt:lpstr>
      <vt:lpstr>Research gap: bốn khoảng trống công trình trước để lại</vt:lpstr>
      <vt:lpstr>Solution: một search viết tay, chưng cất thành CNN</vt:lpstr>
      <vt:lpstr>Mạng nhỏ, quan sát 13 kênh, mask chặn mọi nước tự sát</vt:lpstr>
      <vt:lpstr>Giai đoạn 1: RL có teacher phụ chạm trần 40–51%</vt:lpstr>
      <vt:lpstr>RL bão hòa: hơn chục cải tiến chuẩn đều trượt gate</vt:lpstr>
      <vt:lpstr>Kill-search nhìn trước 12 tick, càng sâu càng mạnh</vt:lpstr>
      <vt:lpstr>Cùng một search, ba cách dùng, chỉ hai cách có tác dụng</vt:lpstr>
      <vt:lpstr>Chưng cất dày: học nhãn mềm của thầy, neo KL để không quên</vt:lpstr>
      <vt:lpstr>Ba vòng expert iteration: trò bám sát thầy</vt:lpstr>
      <vt:lpstr>Đặt cạnh model đã công bố: định vị, không xếp hạng</vt:lpstr>
      <vt:lpstr>Đấu CNN thì hòa nhiều, và phần lớn do luật chơi</vt:lpstr>
      <vt:lpstr>Sang FFA được, đổi cỡ bàn thì phải chưng cất lại</vt:lpstr>
      <vt:lpstr>Bản trình bày PowerPoint</vt:lpstr>
      <vt:lpstr>Phụ lục A: kết quả đầy đủ trước RuleBot (Bảng III)</vt:lpstr>
      <vt:lpstr>Phụ lục B: ablation và kết quả âm có kiểm soát (Bảng V)</vt:lpstr>
      <vt:lpstr>Phụ lục C: các agent đã công bố và của ta (Bảng VI)</vt:lpstr>
      <vt:lpstr>Phụ lục D: tài liệu liên quan</vt:lpstr>
      <vt:lpstr>Phụ lục E: thông số huấn luyện và độ dài ván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Dạy CNN hạ gục đối thủ trong Bomberman</dc:title>
  <dc:subject>PptxGenJS Presentation</dc:subject>
  <dc:creator>Danh</dc:creator>
  <cp:lastModifiedBy>Danh Lê</cp:lastModifiedBy>
  <cp:revision>2</cp:revision>
  <dcterms:created xsi:type="dcterms:W3CDTF">2026-10-26T08:54:19Z</dcterms:created>
  <dcterms:modified xsi:type="dcterms:W3CDTF">2026-10-26T08:58:57Z</dcterms:modified>
</cp:coreProperties>
</file>